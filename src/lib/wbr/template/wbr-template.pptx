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6"/>
    <p:sldMasterId id="2147483663" r:id="rId7"/>
    <p:sldMasterId id="214748366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</p:sldIdLst>
  <p:sldSz cy="5143500" cx="9144000"/>
  <p:notesSz cx="6858000" cy="9144000"/>
  <p:embeddedFontLst>
    <p:embeddedFont>
      <p:font typeface="Figtree"/>
      <p:regular r:id="rId47"/>
      <p:bold r:id="rId48"/>
      <p:italic r:id="rId49"/>
      <p:boldItalic r:id="rId50"/>
    </p:embeddedFont>
    <p:embeddedFont>
      <p:font typeface="Robo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nnor Lyn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5C49B1-B9A1-44A0-B7F3-55418619B978}">
  <a:tblStyle styleId="{795C49B1-B9A1-44A0-B7F3-55418619B9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3E801A1-2D4B-4252-8048-F4D9BBB2FFA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font" Target="fonts/Figtree-bold.fntdata"/><Relationship Id="rId47" Type="http://schemas.openxmlformats.org/officeDocument/2006/relationships/font" Target="fonts/Figtree-regular.fntdata"/><Relationship Id="rId49" Type="http://schemas.openxmlformats.org/officeDocument/2006/relationships/font" Target="fonts/Figtree-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Roboto-regular.fntdata"/><Relationship Id="rId50" Type="http://schemas.openxmlformats.org/officeDocument/2006/relationships/font" Target="fonts/Figtree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5T19:51:42.493">
    <p:pos x="6000" y="0"/>
    <p:text>add steritech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48a4b264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48a4b264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5a1946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5a1946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15a96c4890798b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15a96c4890798b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45886d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45886d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20070c674a55f41_10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h120070c674a55f41_10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120070c674a55f41_10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3ed5f97d_8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f63ed5f97d_8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63ed5f97d_8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a45886dd7_1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fa45886dd7_1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fa45886dd7_1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38cd279d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fb38cd279d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b38cd279d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59485c7f7a77b380_14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59485c7f7a77b380_14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59485c7f7a77b380_14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63ed5f97d_17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f63ed5f97d_17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7" name="Google Shape;337;g3f63ed5f97d_17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63ed5f97d_13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f63ed5f97d_13_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0" name="Google Shape;410;g3f63ed5f97d_13_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120070c674a55f41_1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h120070c674a55f41_1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120070c674a55f41_1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h120070c674a55f41_15_1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h120070c674a55f41_15_1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h120070c674a55f41_15_1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120070c674a55f41_15_2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h120070c674a55f41_15_2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h120070c674a55f41_15_27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h120070c674a55f41_15_4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h120070c674a55f41_15_4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h120070c674a55f41_15_4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hf2af5fc89862f65_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hf2af5fc89862f65_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hf2af5fc89862f65_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hf2af5fc89862f65_1_1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hf2af5fc89862f65_1_1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hf2af5fc89862f65_1_1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hf2af5fc89862f65_1_2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3" name="Google Shape;1273;hf2af5fc89862f65_1_2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hf2af5fc89862f65_1_2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hf2af5fc89862f65_1_3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8" name="Google Shape;1408;hf2af5fc89862f65_1_3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hf2af5fc89862f65_1_3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e9543fcd3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3e9543fcd3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e2fc20e64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e2fc20e64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e9543fcd3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e9543fcd3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e9543fcd3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e9543fcd3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fb4f962a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3fb4f962a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e9543fcd3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3e9543fcd3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3e485cb73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3e485cb73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e9543fcd3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3e9543fcd3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e9543fcd3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3e9543fcd3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fb4f962ae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3fb4f962ae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fb4f962ae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3fb4f962ae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3fb4f962ae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3fb4f962ae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e9543fcd3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e9543fcd3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h120070c674a55f4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h120070c674a55f4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h120070c674a55f4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h120070c674a55f4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h120070c674a55f4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h120070c674a55f4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h15a96c4890798b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h15a96c4890798b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/>
          <p:nvPr/>
        </p:nvSpPr>
        <p:spPr>
          <a:xfrm>
            <a:off x="0" y="0"/>
            <a:ext cx="9143771" cy="68580"/>
          </a:xfrm>
          <a:prstGeom prst="rect">
            <a:avLst/>
          </a:prstGeom>
          <a:solidFill>
            <a:srgbClr val="D61F26"/>
          </a:solidFill>
          <a:ln cap="flat" cmpd="sng" w="12700">
            <a:solidFill>
              <a:srgbClr val="D61F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7"/>
          <p:cNvSpPr/>
          <p:nvPr/>
        </p:nvSpPr>
        <p:spPr>
          <a:xfrm>
            <a:off x="308610" y="123444"/>
            <a:ext cx="30861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HRG WEEKLY BUSINESS REVIEW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/>
          <p:nvPr/>
        </p:nvSpPr>
        <p:spPr>
          <a:xfrm>
            <a:off x="6995160" y="123444"/>
            <a:ext cx="181737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Week ending 10/04/2026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17"/>
          <p:cNvCxnSpPr/>
          <p:nvPr/>
        </p:nvCxnSpPr>
        <p:spPr>
          <a:xfrm>
            <a:off x="308610" y="4951476"/>
            <a:ext cx="8524494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7"/>
          <p:cNvSpPr/>
          <p:nvPr/>
        </p:nvSpPr>
        <p:spPr>
          <a:xfrm>
            <a:off x="308610" y="4978908"/>
            <a:ext cx="3566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Source: weekly HRG productivity / TPLH report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538210" y="4965192"/>
            <a:ext cx="2606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subTitle"/>
          </p:nvPr>
        </p:nvSpPr>
        <p:spPr>
          <a:xfrm>
            <a:off x="311700" y="3312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7291E"/>
                </a:solidFill>
              </a:rPr>
              <a:t>What are we doing? </a:t>
            </a:r>
            <a:r>
              <a:rPr b="1" lang="en" sz="1300">
                <a:solidFill>
                  <a:schemeClr val="dk1"/>
                </a:solidFill>
              </a:rPr>
              <a:t>Building the leading franchise operating company in the country — where great people grow, guests are cared for, and operational excellence drives lasting success.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A729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7291E"/>
                </a:solidFill>
              </a:rPr>
              <a:t>How are we doing it? </a:t>
            </a:r>
            <a:r>
              <a:rPr b="1" lang="en" sz="1300">
                <a:solidFill>
                  <a:srgbClr val="222222"/>
                </a:solidFill>
              </a:rPr>
              <a:t>Taking care of the little things to accomplish the big things.</a:t>
            </a:r>
            <a:endParaRPr b="1" sz="1300">
              <a:solidFill>
                <a:srgbClr val="222222"/>
              </a:solidFill>
            </a:endParaRPr>
          </a:p>
        </p:txBody>
      </p:sp>
      <p:sp>
        <p:nvSpPr>
          <p:cNvPr id="66" name="Google Shape;66;p18"/>
          <p:cNvSpPr txBox="1"/>
          <p:nvPr>
            <p:ph type="ctrTitle"/>
          </p:nvPr>
        </p:nvSpPr>
        <p:spPr>
          <a:xfrm>
            <a:off x="311700" y="1863900"/>
            <a:ext cx="8520600" cy="10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Leadership Agenda</a:t>
            </a:r>
            <a:endParaRPr/>
          </a:p>
        </p:txBody>
      </p:sp>
      <p:sp>
        <p:nvSpPr>
          <p:cNvPr id="67" name="Google Shape;67;p18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68" name="Google Shape;68;p18" title="zaxbys-logo-brandlogos.net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86"/>
            <a:ext cx="1806211" cy="1806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8" title="hrg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5226" y="-1363"/>
            <a:ext cx="1808776" cy="180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9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9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19"/>
          <p:cNvGraphicFramePr/>
          <p:nvPr/>
        </p:nvGraphicFramePr>
        <p:xfrm>
          <a:off x="235038" y="105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{795C49B1-B9A1-44A0-B7F3-55418619B978}</a:tableStyleId>
              </a:tblPr>
              <a:tblGrid>
                <a:gridCol w="1569750"/>
                <a:gridCol w="3841975"/>
                <a:gridCol w="3262200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Our Values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Supporting Behaviors / Notes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8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Take care of each other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 guest experience will never exceed the team’s experience—so we put the team first.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Talk openly and honestly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Celebrate wins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Tackle problems head-on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Respect, kindness, appreciation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Deliver a great experience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 bring energy, respect, and attention to every interaction—so guests leave happy and want to return.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If we deliver for the guest, they’ll deliver for the business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Take pride in everything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 take pride in who we are, how we serve, and the space we create for others.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Own the outcome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Everyone plays a part in success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Step up and lead from where you are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Be reliable, be ready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Show up on time, be ready to go, and bring your best every shift.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Follow through on commitments—every time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Keep getting better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We’re always improving and welcome new ideas from everyone on the team.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Ask for feedback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Help others grow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 Push yourself to improve every shift</a:t>
                      </a:r>
                      <a:endParaRPr sz="1000"/>
                    </a:p>
                  </a:txBody>
                  <a:tcPr marT="63500" marB="63500" marR="63500" marL="63500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 Restaurant Group Values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idx="4294967295" type="subTitle"/>
          </p:nvPr>
        </p:nvSpPr>
        <p:spPr>
          <a:xfrm>
            <a:off x="311700" y="3142900"/>
            <a:ext cx="8520600" cy="1650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Expectations of Leaders at HRG - Connor</a:t>
            </a:r>
            <a:endParaRPr b="1" sz="30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We’ll be Talking About Today</a:t>
            </a:r>
            <a:endParaRPr/>
          </a:p>
        </p:txBody>
      </p:sp>
      <p:sp>
        <p:nvSpPr>
          <p:cNvPr id="84" name="Google Shape;84;p20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85" name="Google Shape;85;p20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/>
          <p:nvPr/>
        </p:nvSpPr>
        <p:spPr>
          <a:xfrm>
            <a:off x="1786674" y="2036693"/>
            <a:ext cx="664500" cy="411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grpSp>
        <p:nvGrpSpPr>
          <p:cNvPr id="87" name="Google Shape;87;p20"/>
          <p:cNvGrpSpPr/>
          <p:nvPr/>
        </p:nvGrpSpPr>
        <p:grpSpPr>
          <a:xfrm>
            <a:off x="30401" y="1711379"/>
            <a:ext cx="1911116" cy="1286241"/>
            <a:chOff x="594488" y="1957150"/>
            <a:chExt cx="1709100" cy="1150175"/>
          </a:xfrm>
        </p:grpSpPr>
        <p:sp>
          <p:nvSpPr>
            <p:cNvPr id="88" name="Google Shape;88;p20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cap="flat" cmpd="sng" w="42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2250" lIns="102250" spcFirstLastPara="1" rIns="102250" wrap="square" tIns="10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/>
            </a:p>
          </p:txBody>
        </p:sp>
        <p:sp>
          <p:nvSpPr>
            <p:cNvPr id="89" name="Google Shape;89;p20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89"/>
                </a:spcAft>
                <a:buNone/>
              </a:pPr>
              <a:r>
                <a:rPr b="1" lang="en" sz="89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89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20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8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Our Stores</a:t>
              </a:r>
              <a:endParaRPr b="1" sz="111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20"/>
          <p:cNvGrpSpPr/>
          <p:nvPr/>
        </p:nvGrpSpPr>
        <p:grpSpPr>
          <a:xfrm>
            <a:off x="2384142" y="1711379"/>
            <a:ext cx="1911116" cy="1286241"/>
            <a:chOff x="2699425" y="1957150"/>
            <a:chExt cx="1709100" cy="1150175"/>
          </a:xfrm>
        </p:grpSpPr>
        <p:sp>
          <p:nvSpPr>
            <p:cNvPr id="92" name="Google Shape;92;p20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cap="flat" cmpd="sng" w="42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2250" lIns="102250" spcFirstLastPara="1" rIns="102250" wrap="square" tIns="10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/>
            </a:p>
          </p:txBody>
        </p:sp>
        <p:sp>
          <p:nvSpPr>
            <p:cNvPr id="93" name="Google Shape;93;p20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8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Our People</a:t>
              </a:r>
              <a:endParaRPr b="1" sz="111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20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89"/>
                </a:spcAft>
                <a:buNone/>
              </a:pPr>
              <a:r>
                <a:rPr b="1" lang="en" sz="89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89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20"/>
          <p:cNvGrpSpPr/>
          <p:nvPr/>
        </p:nvGrpSpPr>
        <p:grpSpPr>
          <a:xfrm>
            <a:off x="4712221" y="1711379"/>
            <a:ext cx="1911116" cy="1286241"/>
            <a:chOff x="4781413" y="1957150"/>
            <a:chExt cx="1709100" cy="1150175"/>
          </a:xfrm>
        </p:grpSpPr>
        <p:sp>
          <p:nvSpPr>
            <p:cNvPr id="96" name="Google Shape;96;p20"/>
            <p:cNvSpPr/>
            <p:nvPr/>
          </p:nvSpPr>
          <p:spPr>
            <a:xfrm>
              <a:off x="5338808" y="1957150"/>
              <a:ext cx="594300" cy="594300"/>
            </a:xfrm>
            <a:prstGeom prst="ellipse">
              <a:avLst/>
            </a:prstGeom>
            <a:noFill/>
            <a:ln cap="flat" cmpd="sng" w="42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2250" lIns="102250" spcFirstLastPara="1" rIns="102250" wrap="square" tIns="10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/>
            </a:p>
          </p:txBody>
        </p:sp>
        <p:sp>
          <p:nvSpPr>
            <p:cNvPr id="97" name="Google Shape;97;p20"/>
            <p:cNvSpPr txBox="1"/>
            <p:nvPr/>
          </p:nvSpPr>
          <p:spPr>
            <a:xfrm>
              <a:off x="4781413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8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Our Metrics</a:t>
              </a:r>
              <a:endParaRPr b="1" sz="111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20"/>
            <p:cNvSpPr txBox="1"/>
            <p:nvPr/>
          </p:nvSpPr>
          <p:spPr>
            <a:xfrm>
              <a:off x="5417558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89"/>
                </a:spcAft>
                <a:buNone/>
              </a:pPr>
              <a:r>
                <a:rPr b="1" lang="en" sz="89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89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" name="Google Shape;99;p20"/>
          <p:cNvSpPr/>
          <p:nvPr/>
        </p:nvSpPr>
        <p:spPr>
          <a:xfrm>
            <a:off x="4215812" y="2036693"/>
            <a:ext cx="664500" cy="411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sp>
        <p:nvSpPr>
          <p:cNvPr id="100" name="Google Shape;100;p20"/>
          <p:cNvSpPr/>
          <p:nvPr/>
        </p:nvSpPr>
        <p:spPr>
          <a:xfrm>
            <a:off x="6544038" y="2036693"/>
            <a:ext cx="664500" cy="41100"/>
          </a:xfrm>
          <a:prstGeom prst="roundRect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102250" lIns="102250" spcFirstLastPara="1" rIns="102250" wrap="square" tIns="102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0"/>
          </a:p>
        </p:txBody>
      </p:sp>
      <p:grpSp>
        <p:nvGrpSpPr>
          <p:cNvPr id="101" name="Google Shape;101;p20"/>
          <p:cNvGrpSpPr/>
          <p:nvPr/>
        </p:nvGrpSpPr>
        <p:grpSpPr>
          <a:xfrm>
            <a:off x="7040285" y="1711379"/>
            <a:ext cx="1911116" cy="1286241"/>
            <a:chOff x="6863388" y="1957150"/>
            <a:chExt cx="1709100" cy="1150175"/>
          </a:xfrm>
        </p:grpSpPr>
        <p:sp>
          <p:nvSpPr>
            <p:cNvPr id="102" name="Google Shape;102;p20"/>
            <p:cNvSpPr/>
            <p:nvPr/>
          </p:nvSpPr>
          <p:spPr>
            <a:xfrm>
              <a:off x="7420786" y="1957150"/>
              <a:ext cx="594300" cy="594300"/>
            </a:xfrm>
            <a:prstGeom prst="ellipse">
              <a:avLst/>
            </a:prstGeom>
            <a:noFill/>
            <a:ln cap="flat" cmpd="sng" w="42625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2250" lIns="102250" spcFirstLastPara="1" rIns="102250" wrap="square" tIns="10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0">
                <a:solidFill>
                  <a:srgbClr val="A7291E"/>
                </a:solidFill>
              </a:endParaRPr>
            </a:p>
          </p:txBody>
        </p:sp>
        <p:sp>
          <p:nvSpPr>
            <p:cNvPr id="103" name="Google Shape;103;p20"/>
            <p:cNvSpPr txBox="1"/>
            <p:nvPr/>
          </p:nvSpPr>
          <p:spPr>
            <a:xfrm>
              <a:off x="68633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8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Administrative</a:t>
              </a:r>
              <a:endParaRPr b="1" sz="111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20"/>
            <p:cNvSpPr txBox="1"/>
            <p:nvPr/>
          </p:nvSpPr>
          <p:spPr>
            <a:xfrm>
              <a:off x="74995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250" lIns="102250" spcFirstLastPara="1" rIns="102250" wrap="square" tIns="1022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89"/>
                </a:spcAft>
                <a:buNone/>
              </a:pPr>
              <a:r>
                <a:rPr b="1" lang="en" sz="895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89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0151" y="-1371"/>
            <a:ext cx="1153851" cy="11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of Leaders at HRG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19050">
            <a:solidFill>
              <a:srgbClr val="7F2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Ownership</a:t>
            </a:r>
            <a:r>
              <a:rPr lang="en">
                <a:solidFill>
                  <a:schemeClr val="dk1"/>
                </a:solidFill>
              </a:rPr>
              <a:t> → You own your market. We expect you to know what's working, what's not, and what you're doing about it. </a:t>
            </a:r>
            <a:endParaRPr>
              <a:solidFill>
                <a:schemeClr val="dk1"/>
              </a:solidFill>
            </a:endParaRPr>
          </a:p>
          <a:p>
            <a:pPr indent="-2828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Don't just report problems upward.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Accountability</a:t>
            </a:r>
            <a:r>
              <a:rPr lang="en">
                <a:solidFill>
                  <a:schemeClr val="dk1"/>
                </a:solidFill>
              </a:rPr>
              <a:t> → If you make a commitment, close the loop. If an issue needs correcting, address it promptly. </a:t>
            </a:r>
            <a:endParaRPr>
              <a:solidFill>
                <a:schemeClr val="dk1"/>
              </a:solidFill>
            </a:endParaRPr>
          </a:p>
          <a:p>
            <a:pPr indent="-2828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Coaching without follow-up isn't sufficient.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dk1"/>
                </a:solidFill>
              </a:rPr>
              <a:t>People Development</a:t>
            </a:r>
            <a:r>
              <a:rPr lang="en">
                <a:solidFill>
                  <a:schemeClr val="dk1"/>
                </a:solidFill>
              </a:rPr>
              <a:t> → Your success is ultimately determined by the quality of leaders you build. We want strong GMs, promotable talent, structured onboarding, and succession depth.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Operational Discipline</a:t>
            </a:r>
            <a:r>
              <a:rPr lang="en">
                <a:solidFill>
                  <a:schemeClr val="dk1"/>
                </a:solidFill>
              </a:rPr>
              <a:t> → Numbers tell us where to look; visiting restaurants and understanding their teams tell us why. </a:t>
            </a:r>
            <a:endParaRPr>
              <a:solidFill>
                <a:schemeClr val="dk1"/>
              </a:solidFill>
            </a:endParaRPr>
          </a:p>
          <a:p>
            <a:pPr indent="-2828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Our systems and standards exist to create consistency (not paperwork).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Candor and Communication</a:t>
            </a:r>
            <a:r>
              <a:rPr lang="en">
                <a:solidFill>
                  <a:schemeClr val="dk1"/>
                </a:solidFill>
              </a:rPr>
              <a:t> → We want bad news early. We would much rather hear about an issue immediately than discover it two weeks later. </a:t>
            </a:r>
            <a:endParaRPr>
              <a:solidFill>
                <a:schemeClr val="dk1"/>
              </a:solidFill>
            </a:endParaRPr>
          </a:p>
          <a:p>
            <a:pPr indent="-2828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Disagreement is welcome; surprises are not.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Continuous Improvement</a:t>
            </a:r>
            <a:r>
              <a:rPr lang="en">
                <a:solidFill>
                  <a:schemeClr val="dk1"/>
                </a:solidFill>
              </a:rPr>
              <a:t> → HRG is not perfect. We're building the operating model as we grow. </a:t>
            </a:r>
            <a:endParaRPr>
              <a:solidFill>
                <a:schemeClr val="dk1"/>
              </a:solidFill>
            </a:endParaRPr>
          </a:p>
          <a:p>
            <a:pPr indent="-2828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We expect you to challenge processes that aren't working and bring better ideas.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Post of the Week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18" name="Google Shape;118;p22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657150" y="1538100"/>
            <a:ext cx="7829700" cy="23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</a:rPr>
              <a:t>KIDZ NIGHT → FRIDAY NIGHT LIGHTZ → CHURCH BULLETIN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D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9144000" cy="65151"/>
          </a:xfrm>
          <a:prstGeom prst="rect">
            <a:avLst/>
          </a:prstGeom>
          <a:solidFill>
            <a:srgbClr val="7B3037"/>
          </a:solidFill>
          <a:ln cap="flat" cmpd="sng" w="12700">
            <a:solidFill>
              <a:srgbClr val="7B30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493776" y="363474"/>
            <a:ext cx="69608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TN Critical Maintenance — Live WBR Worksheet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507492" y="711175"/>
            <a:ext cx="7303770" cy="198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rPr>
              <a:t>Review last week’s commitment, record the outcome, and leave with a clear next action and deadline.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7816408" y="336042"/>
            <a:ext cx="80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303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B3037"/>
                </a:solidFill>
                <a:latin typeface="Arial"/>
                <a:ea typeface="Arial"/>
                <a:cs typeface="Arial"/>
                <a:sym typeface="Arial"/>
              </a:rPr>
              <a:t>HUDSON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7667251" y="500625"/>
            <a:ext cx="110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303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B3037"/>
                </a:solidFill>
                <a:latin typeface="Arial"/>
                <a:ea typeface="Arial"/>
                <a:cs typeface="Arial"/>
                <a:sym typeface="Arial"/>
              </a:rPr>
              <a:t>RESTAURANT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7816408" y="665226"/>
            <a:ext cx="802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3037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7B3037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510921" y="1056132"/>
            <a:ext cx="7818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03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7B3037"/>
                </a:solidFill>
                <a:latin typeface="Arial"/>
                <a:ea typeface="Arial"/>
                <a:cs typeface="Arial"/>
                <a:sym typeface="Arial"/>
              </a:rPr>
              <a:t>MEETING FLOW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1371600" y="1032815"/>
            <a:ext cx="66865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Last week’s commitment  →  outcome  →  next step  →  owner  →  new target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443026" y="1208380"/>
            <a:ext cx="8270063" cy="0"/>
          </a:xfrm>
          <a:prstGeom prst="straightConnector1">
            <a:avLst/>
          </a:prstGeom>
          <a:noFill/>
          <a:ln cap="flat" cmpd="sng" w="158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3"/>
          <p:cNvSpPr/>
          <p:nvPr/>
        </p:nvSpPr>
        <p:spPr>
          <a:xfrm>
            <a:off x="445770" y="1402461"/>
            <a:ext cx="8263890" cy="303809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445770" y="1402461"/>
            <a:ext cx="8263890" cy="336042"/>
          </a:xfrm>
          <a:prstGeom prst="rect">
            <a:avLst/>
          </a:prstGeom>
          <a:solidFill>
            <a:srgbClr val="7B3037"/>
          </a:solidFill>
          <a:ln cap="flat" cmpd="sng" w="12700">
            <a:solidFill>
              <a:srgbClr val="7B30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545211" y="1491615"/>
            <a:ext cx="8229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1519047" y="1491615"/>
            <a:ext cx="174879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3319272" y="1491615"/>
            <a:ext cx="63093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4049649" y="1491615"/>
            <a:ext cx="1323594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UPDATE / OUTCOME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5524119" y="1491615"/>
            <a:ext cx="829818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6504813" y="1491615"/>
            <a:ext cx="152247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8078724" y="1491615"/>
            <a:ext cx="630936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3"/>
          <p:cNvCxnSpPr/>
          <p:nvPr/>
        </p:nvCxnSpPr>
        <p:spPr>
          <a:xfrm>
            <a:off x="445770" y="1738503"/>
            <a:ext cx="8263890" cy="0"/>
          </a:xfrm>
          <a:prstGeom prst="straightConnector1">
            <a:avLst/>
          </a:prstGeom>
          <a:noFill/>
          <a:ln cap="flat" cmpd="sng" w="107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3"/>
          <p:cNvSpPr/>
          <p:nvPr/>
        </p:nvSpPr>
        <p:spPr>
          <a:xfrm>
            <a:off x="569214" y="1772793"/>
            <a:ext cx="76809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Brentwood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1543050" y="1772793"/>
            <a:ext cx="169392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3360420" y="1772793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073652" y="1772793"/>
            <a:ext cx="126873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5548122" y="1772793"/>
            <a:ext cx="774954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Tommy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6528816" y="1772793"/>
            <a:ext cx="146761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8119872" y="1772793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445770" y="2129409"/>
            <a:ext cx="8263890" cy="390906"/>
          </a:xfrm>
          <a:prstGeom prst="rect">
            <a:avLst/>
          </a:prstGeom>
          <a:solidFill>
            <a:srgbClr val="F7F5F4"/>
          </a:solidFill>
          <a:ln cap="flat" cmpd="sng" w="12700">
            <a:solidFill>
              <a:srgbClr val="F7F5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23"/>
          <p:cNvCxnSpPr/>
          <p:nvPr/>
        </p:nvCxnSpPr>
        <p:spPr>
          <a:xfrm>
            <a:off x="445770" y="2129409"/>
            <a:ext cx="8263890" cy="0"/>
          </a:xfrm>
          <a:prstGeom prst="straightConnector1">
            <a:avLst/>
          </a:prstGeom>
          <a:noFill/>
          <a:ln cap="flat" cmpd="sng" w="107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3"/>
          <p:cNvSpPr/>
          <p:nvPr/>
        </p:nvSpPr>
        <p:spPr>
          <a:xfrm>
            <a:off x="569214" y="2163699"/>
            <a:ext cx="76809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Columbia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1543050" y="2163699"/>
            <a:ext cx="169392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202123"/>
                </a:solidFill>
              </a:rPr>
              <a:t>Rick installing new hose parts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3360420" y="2163699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4073652" y="2163699"/>
            <a:ext cx="126873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Rick coming this week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5548122" y="2163699"/>
            <a:ext cx="774954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Tommy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528816" y="2163699"/>
            <a:ext cx="146761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8119872" y="2163699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202123"/>
                </a:solidFill>
              </a:rPr>
              <a:t>10/22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3"/>
          <p:cNvCxnSpPr/>
          <p:nvPr/>
        </p:nvCxnSpPr>
        <p:spPr>
          <a:xfrm>
            <a:off x="445770" y="2520315"/>
            <a:ext cx="8263890" cy="0"/>
          </a:xfrm>
          <a:prstGeom prst="straightConnector1">
            <a:avLst/>
          </a:prstGeom>
          <a:noFill/>
          <a:ln cap="flat" cmpd="sng" w="107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23"/>
          <p:cNvSpPr/>
          <p:nvPr/>
        </p:nvSpPr>
        <p:spPr>
          <a:xfrm>
            <a:off x="569214" y="2554605"/>
            <a:ext cx="768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Spring Hill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1543050" y="2554605"/>
            <a:ext cx="169392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Pole light part missing; Fryer ¾ </a:t>
            </a:r>
            <a:r>
              <a:rPr lang="en" sz="900">
                <a:solidFill>
                  <a:srgbClr val="202123"/>
                </a:solidFill>
              </a:rPr>
              <a:t>valve stripped; Rick installing new hose parts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3360420" y="2554605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073652" y="2554605"/>
            <a:ext cx="12687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Pole light still not fixed. ATech coming to fix fryer. 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548122" y="2554605"/>
            <a:ext cx="77495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Tommy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6528816" y="2554605"/>
            <a:ext cx="14676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Delayed. Needs follow-up.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8119872" y="2554605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10/</a:t>
            </a:r>
            <a:r>
              <a:rPr lang="en" sz="900">
                <a:solidFill>
                  <a:srgbClr val="202123"/>
                </a:solidFill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445770" y="3000375"/>
            <a:ext cx="8263890" cy="390906"/>
          </a:xfrm>
          <a:prstGeom prst="rect">
            <a:avLst/>
          </a:prstGeom>
          <a:solidFill>
            <a:srgbClr val="F7F5F4"/>
          </a:solidFill>
          <a:ln cap="flat" cmpd="sng" w="12700">
            <a:solidFill>
              <a:srgbClr val="F7F5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23"/>
          <p:cNvCxnSpPr/>
          <p:nvPr/>
        </p:nvCxnSpPr>
        <p:spPr>
          <a:xfrm>
            <a:off x="445770" y="3000375"/>
            <a:ext cx="8263890" cy="0"/>
          </a:xfrm>
          <a:prstGeom prst="straightConnector1">
            <a:avLst/>
          </a:prstGeom>
          <a:noFill/>
          <a:ln cap="flat" cmpd="sng" w="19675">
            <a:solidFill>
              <a:srgbClr val="7B30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3"/>
          <p:cNvSpPr/>
          <p:nvPr/>
        </p:nvSpPr>
        <p:spPr>
          <a:xfrm>
            <a:off x="569214" y="3034665"/>
            <a:ext cx="76809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Portland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1543050" y="3034665"/>
            <a:ext cx="1693926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Drain needs to be fixed from where it was concreted; FOH monitors (Rick)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3360420" y="3034665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4073652" y="3034665"/>
            <a:ext cx="126873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5548122" y="3034665"/>
            <a:ext cx="774954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Maegan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6528816" y="3034665"/>
            <a:ext cx="1467612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8119872" y="3034665"/>
            <a:ext cx="548640" cy="32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5A2A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23"/>
          <p:cNvCxnSpPr/>
          <p:nvPr/>
        </p:nvCxnSpPr>
        <p:spPr>
          <a:xfrm>
            <a:off x="445770" y="3391281"/>
            <a:ext cx="8263890" cy="0"/>
          </a:xfrm>
          <a:prstGeom prst="straightConnector1">
            <a:avLst/>
          </a:prstGeom>
          <a:noFill/>
          <a:ln cap="flat" cmpd="sng" w="107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3"/>
          <p:cNvSpPr/>
          <p:nvPr/>
        </p:nvSpPr>
        <p:spPr>
          <a:xfrm>
            <a:off x="569214" y="3425571"/>
            <a:ext cx="76809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Springfield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1543050" y="3425571"/>
            <a:ext cx="169392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Fry Freezer door, Back door not Locking; Left side door arm not shutting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3360420" y="3425571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4073652" y="3425571"/>
            <a:ext cx="126873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Waiting on Rick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548122" y="3425571"/>
            <a:ext cx="774954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Maegan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528816" y="3425571"/>
            <a:ext cx="146761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Rick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8119872" y="3425571"/>
            <a:ext cx="548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10/21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45770" y="3926205"/>
            <a:ext cx="8263890" cy="514350"/>
          </a:xfrm>
          <a:prstGeom prst="rect">
            <a:avLst/>
          </a:prstGeom>
          <a:solidFill>
            <a:srgbClr val="F7F5F4"/>
          </a:solidFill>
          <a:ln cap="flat" cmpd="sng" w="12700">
            <a:solidFill>
              <a:srgbClr val="F7F5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3"/>
          <p:cNvCxnSpPr/>
          <p:nvPr/>
        </p:nvCxnSpPr>
        <p:spPr>
          <a:xfrm>
            <a:off x="445770" y="3926205"/>
            <a:ext cx="8263890" cy="0"/>
          </a:xfrm>
          <a:prstGeom prst="straightConnector1">
            <a:avLst/>
          </a:prstGeom>
          <a:noFill/>
          <a:ln cap="flat" cmpd="sng" w="10775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3"/>
          <p:cNvSpPr/>
          <p:nvPr/>
        </p:nvSpPr>
        <p:spPr>
          <a:xfrm>
            <a:off x="569214" y="3960495"/>
            <a:ext cx="768096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White House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1543050" y="3960495"/>
            <a:ext cx="1693926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Fly fan (Waiting on Fly Motor); Set station Reach-in Cooler; hose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3360420" y="3960495"/>
            <a:ext cx="5486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4073652" y="3960495"/>
            <a:ext cx="126873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Waiting on Rick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548122" y="3960495"/>
            <a:ext cx="774954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Maegan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6528816" y="3960495"/>
            <a:ext cx="146761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2A2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A5A2A2"/>
                </a:solidFill>
              </a:rPr>
              <a:t>Rick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8119872" y="3960495"/>
            <a:ext cx="54864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12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02123"/>
                </a:solidFill>
                <a:latin typeface="Arial"/>
                <a:ea typeface="Arial"/>
                <a:cs typeface="Arial"/>
                <a:sym typeface="Arial"/>
              </a:rPr>
              <a:t>10/21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3"/>
          <p:cNvCxnSpPr/>
          <p:nvPr/>
        </p:nvCxnSpPr>
        <p:spPr>
          <a:xfrm>
            <a:off x="445770" y="4440555"/>
            <a:ext cx="8263890" cy="0"/>
          </a:xfrm>
          <a:prstGeom prst="straightConnector1">
            <a:avLst/>
          </a:prstGeom>
          <a:noFill/>
          <a:ln cap="flat" cmpd="sng" w="12050">
            <a:solidFill>
              <a:srgbClr val="DAD6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3"/>
          <p:cNvSpPr/>
          <p:nvPr/>
        </p:nvSpPr>
        <p:spPr>
          <a:xfrm>
            <a:off x="514350" y="4759452"/>
            <a:ext cx="73037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3037"/>
              </a:buClr>
              <a:buSzPts val="1100"/>
              <a:buFont typeface="Arial"/>
              <a:buNone/>
            </a:pPr>
            <a:r>
              <a:rPr b="1" i="1" lang="en" sz="1100" u="none" cap="none" strike="noStrike">
                <a:solidFill>
                  <a:srgbClr val="7B3037"/>
                </a:solidFill>
                <a:latin typeface="Arial"/>
                <a:ea typeface="Arial"/>
                <a:cs typeface="Arial"/>
                <a:sym typeface="Arial"/>
              </a:rPr>
              <a:t>Was last week’s commitment completed? If not, what is the specific next action—and by when?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7098030" y="4978908"/>
            <a:ext cx="1618488" cy="78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© 2026 Hudson Restaurant Group  |  Proprietary &amp; Confidential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7A2E33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457200" y="308610"/>
            <a:ext cx="64008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VA Critical Maintenance — Live WBR Worksheet</a:t>
            </a:r>
            <a:endParaRPr sz="800"/>
          </a:p>
        </p:txBody>
      </p:sp>
      <p:sp>
        <p:nvSpPr>
          <p:cNvPr id="204" name="Google Shape;204;p24"/>
          <p:cNvSpPr/>
          <p:nvPr/>
        </p:nvSpPr>
        <p:spPr>
          <a:xfrm>
            <a:off x="468630" y="662940"/>
            <a:ext cx="62865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Review last week’s commitment, record the outcome, and leave with a clear next action and deadline.</a:t>
            </a:r>
            <a:endParaRPr sz="800"/>
          </a:p>
        </p:txBody>
      </p:sp>
      <p:sp>
        <p:nvSpPr>
          <p:cNvPr id="205" name="Google Shape;205;p24"/>
          <p:cNvSpPr/>
          <p:nvPr/>
        </p:nvSpPr>
        <p:spPr>
          <a:xfrm>
            <a:off x="7543800" y="285750"/>
            <a:ext cx="11715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2E33"/>
                </a:solidFill>
                <a:latin typeface="Calibri"/>
                <a:ea typeface="Calibri"/>
                <a:cs typeface="Calibri"/>
                <a:sym typeface="Calibri"/>
              </a:rPr>
              <a:t>HUDSON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A2E33"/>
                </a:solidFill>
                <a:latin typeface="Calibri"/>
                <a:ea typeface="Calibri"/>
                <a:cs typeface="Calibri"/>
                <a:sym typeface="Calibri"/>
              </a:rPr>
              <a:t>RESTAURANT GROUP</a:t>
            </a:r>
            <a:endParaRPr sz="800"/>
          </a:p>
        </p:txBody>
      </p:sp>
      <p:sp>
        <p:nvSpPr>
          <p:cNvPr id="206" name="Google Shape;206;p24"/>
          <p:cNvSpPr/>
          <p:nvPr/>
        </p:nvSpPr>
        <p:spPr>
          <a:xfrm>
            <a:off x="468630" y="994410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7A2E33"/>
                </a:solidFill>
                <a:latin typeface="Calibri"/>
                <a:ea typeface="Calibri"/>
                <a:cs typeface="Calibri"/>
                <a:sym typeface="Calibri"/>
              </a:rPr>
              <a:t>MEETING FLOW</a:t>
            </a:r>
            <a:endParaRPr sz="800"/>
          </a:p>
        </p:txBody>
      </p:sp>
      <p:sp>
        <p:nvSpPr>
          <p:cNvPr id="207" name="Google Shape;207;p24"/>
          <p:cNvSpPr/>
          <p:nvPr/>
        </p:nvSpPr>
        <p:spPr>
          <a:xfrm>
            <a:off x="1325880" y="965835"/>
            <a:ext cx="628650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Last week’s commitment  →  outcome  →  next step  →  owner  →  new target</a:t>
            </a:r>
            <a:endParaRPr sz="800"/>
          </a:p>
        </p:txBody>
      </p:sp>
      <p:sp>
        <p:nvSpPr>
          <p:cNvPr id="208" name="Google Shape;208;p24"/>
          <p:cNvSpPr/>
          <p:nvPr/>
        </p:nvSpPr>
        <p:spPr>
          <a:xfrm>
            <a:off x="457200" y="1205865"/>
            <a:ext cx="8229600" cy="11430"/>
          </a:xfrm>
          <a:prstGeom prst="rect">
            <a:avLst/>
          </a:prstGeom>
          <a:solidFill>
            <a:srgbClr val="D8D3C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4"/>
          <p:cNvSpPr/>
          <p:nvPr/>
        </p:nvSpPr>
        <p:spPr>
          <a:xfrm>
            <a:off x="457200" y="1394460"/>
            <a:ext cx="8229600" cy="331470"/>
          </a:xfrm>
          <a:prstGeom prst="rect">
            <a:avLst/>
          </a:prstGeom>
          <a:solidFill>
            <a:srgbClr val="7A2E33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502920" y="1468755"/>
            <a:ext cx="8801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sz="800"/>
          </a:p>
        </p:txBody>
      </p:sp>
      <p:sp>
        <p:nvSpPr>
          <p:cNvPr id="211" name="Google Shape;211;p24"/>
          <p:cNvSpPr/>
          <p:nvPr/>
        </p:nvSpPr>
        <p:spPr>
          <a:xfrm>
            <a:off x="1474470" y="1468755"/>
            <a:ext cx="17945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LAST WEEK’S COMMITMENT</a:t>
            </a:r>
            <a:endParaRPr sz="800"/>
          </a:p>
        </p:txBody>
      </p:sp>
      <p:sp>
        <p:nvSpPr>
          <p:cNvPr id="212" name="Google Shape;212;p24"/>
          <p:cNvSpPr/>
          <p:nvPr/>
        </p:nvSpPr>
        <p:spPr>
          <a:xfrm>
            <a:off x="3360420" y="1468755"/>
            <a:ext cx="5372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 TARGET</a:t>
            </a:r>
            <a:endParaRPr sz="800"/>
          </a:p>
        </p:txBody>
      </p:sp>
      <p:sp>
        <p:nvSpPr>
          <p:cNvPr id="213" name="Google Shape;213;p24"/>
          <p:cNvSpPr/>
          <p:nvPr/>
        </p:nvSpPr>
        <p:spPr>
          <a:xfrm>
            <a:off x="3989070" y="1468755"/>
            <a:ext cx="139446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/ OUTCOME</a:t>
            </a:r>
            <a:endParaRPr sz="800"/>
          </a:p>
        </p:txBody>
      </p:sp>
      <p:sp>
        <p:nvSpPr>
          <p:cNvPr id="214" name="Google Shape;214;p24"/>
          <p:cNvSpPr/>
          <p:nvPr/>
        </p:nvSpPr>
        <p:spPr>
          <a:xfrm>
            <a:off x="5474970" y="1468755"/>
            <a:ext cx="8801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800"/>
          </a:p>
        </p:txBody>
      </p:sp>
      <p:sp>
        <p:nvSpPr>
          <p:cNvPr id="215" name="Google Shape;215;p24"/>
          <p:cNvSpPr/>
          <p:nvPr/>
        </p:nvSpPr>
        <p:spPr>
          <a:xfrm>
            <a:off x="6446520" y="1468755"/>
            <a:ext cx="162306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</a:t>
            </a:r>
            <a:endParaRPr sz="800"/>
          </a:p>
        </p:txBody>
      </p:sp>
      <p:sp>
        <p:nvSpPr>
          <p:cNvPr id="216" name="Google Shape;216;p24"/>
          <p:cNvSpPr/>
          <p:nvPr/>
        </p:nvSpPr>
        <p:spPr>
          <a:xfrm>
            <a:off x="8161020" y="1468755"/>
            <a:ext cx="480060" cy="19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TARGET</a:t>
            </a:r>
            <a:endParaRPr sz="800"/>
          </a:p>
        </p:txBody>
      </p:sp>
      <p:sp>
        <p:nvSpPr>
          <p:cNvPr id="217" name="Google Shape;217;p24"/>
          <p:cNvSpPr/>
          <p:nvPr/>
        </p:nvSpPr>
        <p:spPr>
          <a:xfrm>
            <a:off x="457200" y="1725930"/>
            <a:ext cx="8229600" cy="38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1497330" y="1765935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19" name="Google Shape;219;p24"/>
          <p:cNvSpPr/>
          <p:nvPr/>
        </p:nvSpPr>
        <p:spPr>
          <a:xfrm>
            <a:off x="525780" y="1840230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Jefferson</a:t>
            </a:r>
            <a:endParaRPr sz="800"/>
          </a:p>
        </p:txBody>
      </p:sp>
      <p:sp>
        <p:nvSpPr>
          <p:cNvPr id="220" name="Google Shape;220;p24"/>
          <p:cNvSpPr/>
          <p:nvPr/>
        </p:nvSpPr>
        <p:spPr>
          <a:xfrm>
            <a:off x="3337560" y="1840230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21" name="Google Shape;221;p24"/>
          <p:cNvSpPr/>
          <p:nvPr/>
        </p:nvSpPr>
        <p:spPr>
          <a:xfrm>
            <a:off x="4011930" y="1840230"/>
            <a:ext cx="13487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22" name="Google Shape;222;p24"/>
          <p:cNvSpPr/>
          <p:nvPr/>
        </p:nvSpPr>
        <p:spPr>
          <a:xfrm>
            <a:off x="5486400" y="1765935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endParaRPr sz="800"/>
          </a:p>
        </p:txBody>
      </p:sp>
      <p:sp>
        <p:nvSpPr>
          <p:cNvPr id="223" name="Google Shape;223;p24"/>
          <p:cNvSpPr/>
          <p:nvPr/>
        </p:nvSpPr>
        <p:spPr>
          <a:xfrm>
            <a:off x="6469380" y="1840230"/>
            <a:ext cx="15773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24" name="Google Shape;224;p24"/>
          <p:cNvSpPr/>
          <p:nvPr/>
        </p:nvSpPr>
        <p:spPr>
          <a:xfrm>
            <a:off x="8138160" y="1840230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25" name="Google Shape;225;p24"/>
          <p:cNvSpPr/>
          <p:nvPr/>
        </p:nvSpPr>
        <p:spPr>
          <a:xfrm>
            <a:off x="457200" y="2109652"/>
            <a:ext cx="8229600" cy="383722"/>
          </a:xfrm>
          <a:prstGeom prst="rect">
            <a:avLst/>
          </a:prstGeom>
          <a:solidFill>
            <a:srgbClr val="F6F3F1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25780" y="2223952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Oyster</a:t>
            </a:r>
            <a:endParaRPr sz="800"/>
          </a:p>
        </p:txBody>
      </p:sp>
      <p:sp>
        <p:nvSpPr>
          <p:cNvPr id="227" name="Google Shape;227;p24"/>
          <p:cNvSpPr/>
          <p:nvPr/>
        </p:nvSpPr>
        <p:spPr>
          <a:xfrm>
            <a:off x="6469375" y="2128331"/>
            <a:ext cx="1577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i="1" sz="700">
              <a:solidFill>
                <a:srgbClr val="9A96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3337560" y="2223952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29" name="Google Shape;229;p24"/>
          <p:cNvSpPr/>
          <p:nvPr/>
        </p:nvSpPr>
        <p:spPr>
          <a:xfrm>
            <a:off x="1535430" y="2149657"/>
            <a:ext cx="174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Trying sprayer from College.</a:t>
            </a:r>
            <a:endParaRPr sz="700"/>
          </a:p>
        </p:txBody>
      </p:sp>
      <p:sp>
        <p:nvSpPr>
          <p:cNvPr id="230" name="Google Shape;230;p24"/>
          <p:cNvSpPr/>
          <p:nvPr/>
        </p:nvSpPr>
        <p:spPr>
          <a:xfrm>
            <a:off x="4011930" y="2199554"/>
            <a:ext cx="134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i="1" sz="700">
              <a:solidFill>
                <a:srgbClr val="9A96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5486400" y="2149657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endParaRPr sz="800"/>
          </a:p>
        </p:txBody>
      </p:sp>
      <p:sp>
        <p:nvSpPr>
          <p:cNvPr id="232" name="Google Shape;232;p24"/>
          <p:cNvSpPr/>
          <p:nvPr/>
        </p:nvSpPr>
        <p:spPr>
          <a:xfrm>
            <a:off x="8138160" y="2223952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10/20</a:t>
            </a:r>
            <a:endParaRPr sz="800"/>
          </a:p>
        </p:txBody>
      </p:sp>
      <p:sp>
        <p:nvSpPr>
          <p:cNvPr id="233" name="Google Shape;233;p24"/>
          <p:cNvSpPr/>
          <p:nvPr/>
        </p:nvSpPr>
        <p:spPr>
          <a:xfrm>
            <a:off x="457200" y="2493373"/>
            <a:ext cx="8229600" cy="3837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525780" y="2607673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Hampton</a:t>
            </a:r>
            <a:endParaRPr sz="800"/>
          </a:p>
        </p:txBody>
      </p:sp>
      <p:sp>
        <p:nvSpPr>
          <p:cNvPr id="235" name="Google Shape;235;p24"/>
          <p:cNvSpPr/>
          <p:nvPr/>
        </p:nvSpPr>
        <p:spPr>
          <a:xfrm>
            <a:off x="1497330" y="2533378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Flat top temp control knobs (wrong one); bottom of filter-pad tank leaking</a:t>
            </a:r>
            <a:endParaRPr sz="700">
              <a:solidFill>
                <a:srgbClr val="1D1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4011930" y="2551180"/>
            <a:ext cx="134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Star to call 5 point </a:t>
            </a:r>
            <a:endParaRPr sz="800"/>
          </a:p>
        </p:txBody>
      </p:sp>
      <p:sp>
        <p:nvSpPr>
          <p:cNvPr id="237" name="Google Shape;237;p24"/>
          <p:cNvSpPr/>
          <p:nvPr/>
        </p:nvSpPr>
        <p:spPr>
          <a:xfrm>
            <a:off x="3337560" y="2607673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38" name="Google Shape;238;p24"/>
          <p:cNvSpPr/>
          <p:nvPr/>
        </p:nvSpPr>
        <p:spPr>
          <a:xfrm>
            <a:off x="5486400" y="2533378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endParaRPr sz="800"/>
          </a:p>
        </p:txBody>
      </p:sp>
      <p:sp>
        <p:nvSpPr>
          <p:cNvPr id="239" name="Google Shape;239;p24"/>
          <p:cNvSpPr/>
          <p:nvPr/>
        </p:nvSpPr>
        <p:spPr>
          <a:xfrm>
            <a:off x="6469380" y="2572200"/>
            <a:ext cx="157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Roger to Weld Filter pans</a:t>
            </a:r>
            <a:endParaRPr i="1" sz="700">
              <a:solidFill>
                <a:srgbClr val="9A96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8138160" y="2607673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10/20</a:t>
            </a:r>
            <a:endParaRPr sz="800"/>
          </a:p>
        </p:txBody>
      </p:sp>
      <p:sp>
        <p:nvSpPr>
          <p:cNvPr id="241" name="Google Shape;241;p24"/>
          <p:cNvSpPr/>
          <p:nvPr/>
        </p:nvSpPr>
        <p:spPr>
          <a:xfrm>
            <a:off x="457200" y="2877094"/>
            <a:ext cx="8229600" cy="383722"/>
          </a:xfrm>
          <a:prstGeom prst="rect">
            <a:avLst/>
          </a:prstGeom>
          <a:solidFill>
            <a:srgbClr val="F6F3F1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25780" y="2991394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College Dr</a:t>
            </a:r>
            <a:endParaRPr sz="800"/>
          </a:p>
        </p:txBody>
      </p:sp>
      <p:sp>
        <p:nvSpPr>
          <p:cNvPr id="243" name="Google Shape;243;p24"/>
          <p:cNvSpPr/>
          <p:nvPr/>
        </p:nvSpPr>
        <p:spPr>
          <a:xfrm>
            <a:off x="3337560" y="2991394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44" name="Google Shape;244;p24"/>
          <p:cNvSpPr/>
          <p:nvPr/>
        </p:nvSpPr>
        <p:spPr>
          <a:xfrm>
            <a:off x="1497330" y="2917099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Tender Station underneath is still down (waiting on Masters); left half of the flat top</a:t>
            </a:r>
            <a:endParaRPr sz="800"/>
          </a:p>
        </p:txBody>
      </p:sp>
      <p:sp>
        <p:nvSpPr>
          <p:cNvPr id="245" name="Google Shape;245;p24"/>
          <p:cNvSpPr/>
          <p:nvPr/>
        </p:nvSpPr>
        <p:spPr>
          <a:xfrm>
            <a:off x="4011930" y="2896219"/>
            <a:ext cx="134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Call 5Point for flat-top and Masters for Tender Station</a:t>
            </a:r>
            <a:endParaRPr sz="800"/>
          </a:p>
        </p:txBody>
      </p:sp>
      <p:sp>
        <p:nvSpPr>
          <p:cNvPr id="246" name="Google Shape;246;p24"/>
          <p:cNvSpPr/>
          <p:nvPr/>
        </p:nvSpPr>
        <p:spPr>
          <a:xfrm>
            <a:off x="5486400" y="2917099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endParaRPr sz="800"/>
          </a:p>
        </p:txBody>
      </p:sp>
      <p:sp>
        <p:nvSpPr>
          <p:cNvPr id="247" name="Google Shape;247;p24"/>
          <p:cNvSpPr/>
          <p:nvPr/>
        </p:nvSpPr>
        <p:spPr>
          <a:xfrm>
            <a:off x="8138160" y="2991394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10/21</a:t>
            </a:r>
            <a:endParaRPr sz="800"/>
          </a:p>
        </p:txBody>
      </p:sp>
      <p:sp>
        <p:nvSpPr>
          <p:cNvPr id="248" name="Google Shape;248;p24"/>
          <p:cNvSpPr/>
          <p:nvPr/>
        </p:nvSpPr>
        <p:spPr>
          <a:xfrm>
            <a:off x="6469375" y="2917100"/>
            <a:ext cx="157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49" name="Google Shape;249;p24"/>
          <p:cNvSpPr/>
          <p:nvPr/>
        </p:nvSpPr>
        <p:spPr>
          <a:xfrm>
            <a:off x="457200" y="3260816"/>
            <a:ext cx="8229600" cy="3837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1497330" y="3300821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 Hole in wall in dining room</a:t>
            </a:r>
            <a:endParaRPr sz="700"/>
          </a:p>
        </p:txBody>
      </p:sp>
      <p:sp>
        <p:nvSpPr>
          <p:cNvPr id="251" name="Google Shape;251;p24"/>
          <p:cNvSpPr/>
          <p:nvPr/>
        </p:nvSpPr>
        <p:spPr>
          <a:xfrm>
            <a:off x="525780" y="3375116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endParaRPr sz="800"/>
          </a:p>
        </p:txBody>
      </p:sp>
      <p:sp>
        <p:nvSpPr>
          <p:cNvPr id="252" name="Google Shape;252;p24"/>
          <p:cNvSpPr/>
          <p:nvPr/>
        </p:nvSpPr>
        <p:spPr>
          <a:xfrm>
            <a:off x="3337560" y="3375116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53" name="Google Shape;253;p24"/>
          <p:cNvSpPr/>
          <p:nvPr/>
        </p:nvSpPr>
        <p:spPr>
          <a:xfrm>
            <a:off x="4011925" y="3300975"/>
            <a:ext cx="1348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Breader station ordered on the way, but in a few weeks</a:t>
            </a:r>
            <a:endParaRPr sz="800"/>
          </a:p>
        </p:txBody>
      </p:sp>
      <p:sp>
        <p:nvSpPr>
          <p:cNvPr id="254" name="Google Shape;254;p24"/>
          <p:cNvSpPr/>
          <p:nvPr/>
        </p:nvSpPr>
        <p:spPr>
          <a:xfrm>
            <a:off x="5486400" y="3300821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Chris</a:t>
            </a:r>
            <a:endParaRPr sz="800"/>
          </a:p>
        </p:txBody>
      </p:sp>
      <p:sp>
        <p:nvSpPr>
          <p:cNvPr id="255" name="Google Shape;255;p24"/>
          <p:cNvSpPr/>
          <p:nvPr/>
        </p:nvSpPr>
        <p:spPr>
          <a:xfrm>
            <a:off x="8138160" y="3375116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10/21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6B68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57200" y="3644537"/>
            <a:ext cx="8229600" cy="383722"/>
          </a:xfrm>
          <a:prstGeom prst="rect">
            <a:avLst/>
          </a:prstGeom>
          <a:solidFill>
            <a:srgbClr val="F6F3F1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469375" y="3300901"/>
            <a:ext cx="157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Preston to text ServiceMaster</a:t>
            </a:r>
            <a:endParaRPr sz="800"/>
          </a:p>
        </p:txBody>
      </p:sp>
      <p:sp>
        <p:nvSpPr>
          <p:cNvPr id="258" name="Google Shape;258;p24"/>
          <p:cNvSpPr/>
          <p:nvPr/>
        </p:nvSpPr>
        <p:spPr>
          <a:xfrm>
            <a:off x="525780" y="3758837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Hillcrest</a:t>
            </a:r>
            <a:endParaRPr sz="800"/>
          </a:p>
        </p:txBody>
      </p:sp>
      <p:sp>
        <p:nvSpPr>
          <p:cNvPr id="259" name="Google Shape;259;p24"/>
          <p:cNvSpPr/>
          <p:nvPr/>
        </p:nvSpPr>
        <p:spPr>
          <a:xfrm>
            <a:off x="3337560" y="3758837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1D1D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1497330" y="3684542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YESCO for lights</a:t>
            </a:r>
            <a:endParaRPr sz="800"/>
          </a:p>
        </p:txBody>
      </p:sp>
      <p:sp>
        <p:nvSpPr>
          <p:cNvPr id="261" name="Google Shape;261;p24"/>
          <p:cNvSpPr/>
          <p:nvPr/>
        </p:nvSpPr>
        <p:spPr>
          <a:xfrm>
            <a:off x="4011930" y="3766793"/>
            <a:ext cx="134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Waiting on both vendors</a:t>
            </a:r>
            <a:endParaRPr sz="800"/>
          </a:p>
        </p:txBody>
      </p:sp>
      <p:sp>
        <p:nvSpPr>
          <p:cNvPr id="262" name="Google Shape;262;p24"/>
          <p:cNvSpPr/>
          <p:nvPr/>
        </p:nvSpPr>
        <p:spPr>
          <a:xfrm>
            <a:off x="5486400" y="3684542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Chris</a:t>
            </a:r>
            <a:endParaRPr sz="800"/>
          </a:p>
        </p:txBody>
      </p:sp>
      <p:sp>
        <p:nvSpPr>
          <p:cNvPr id="263" name="Google Shape;263;p24"/>
          <p:cNvSpPr/>
          <p:nvPr/>
        </p:nvSpPr>
        <p:spPr>
          <a:xfrm>
            <a:off x="8138160" y="3758837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10/21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6B68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457200" y="4028258"/>
            <a:ext cx="8229600" cy="38372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25780" y="4142558"/>
            <a:ext cx="845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VA Beach</a:t>
            </a:r>
            <a:endParaRPr sz="800"/>
          </a:p>
        </p:txBody>
      </p:sp>
      <p:sp>
        <p:nvSpPr>
          <p:cNvPr id="266" name="Google Shape;266;p24"/>
          <p:cNvSpPr/>
          <p:nvPr/>
        </p:nvSpPr>
        <p:spPr>
          <a:xfrm>
            <a:off x="3337560" y="4142558"/>
            <a:ext cx="58293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67" name="Google Shape;267;p24"/>
          <p:cNvSpPr/>
          <p:nvPr/>
        </p:nvSpPr>
        <p:spPr>
          <a:xfrm>
            <a:off x="4011930" y="4142558"/>
            <a:ext cx="13487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68" name="Google Shape;268;p24"/>
          <p:cNvSpPr/>
          <p:nvPr/>
        </p:nvSpPr>
        <p:spPr>
          <a:xfrm>
            <a:off x="5486400" y="4068263"/>
            <a:ext cx="8572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Chris</a:t>
            </a:r>
            <a:endParaRPr sz="800"/>
          </a:p>
        </p:txBody>
      </p:sp>
      <p:sp>
        <p:nvSpPr>
          <p:cNvPr id="269" name="Google Shape;269;p24"/>
          <p:cNvSpPr/>
          <p:nvPr/>
        </p:nvSpPr>
        <p:spPr>
          <a:xfrm>
            <a:off x="6469380" y="4111027"/>
            <a:ext cx="157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70" name="Google Shape;270;p24"/>
          <p:cNvSpPr/>
          <p:nvPr/>
        </p:nvSpPr>
        <p:spPr>
          <a:xfrm>
            <a:off x="8138160" y="4142558"/>
            <a:ext cx="5257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7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6B68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68630" y="4572000"/>
            <a:ext cx="645795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rgbClr val="7A2E33"/>
                </a:solidFill>
                <a:latin typeface="Calibri"/>
                <a:ea typeface="Calibri"/>
                <a:cs typeface="Calibri"/>
                <a:sym typeface="Calibri"/>
              </a:rPr>
              <a:t>Was last week’s commitment completed? If not, what is the specific next action—and by when?</a:t>
            </a:r>
            <a:endParaRPr sz="800"/>
          </a:p>
        </p:txBody>
      </p:sp>
      <p:sp>
        <p:nvSpPr>
          <p:cNvPr id="272" name="Google Shape;272;p24"/>
          <p:cNvSpPr/>
          <p:nvPr/>
        </p:nvSpPr>
        <p:spPr>
          <a:xfrm>
            <a:off x="6629400" y="4834890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B6867"/>
                </a:solidFill>
                <a:latin typeface="Calibri"/>
                <a:ea typeface="Calibri"/>
                <a:cs typeface="Calibri"/>
                <a:sym typeface="Calibri"/>
              </a:rPr>
              <a:t>© 2026 Hudson Restaurant Group  |  Proprietary &amp; Confidential</a:t>
            </a:r>
            <a:endParaRPr sz="800"/>
          </a:p>
        </p:txBody>
      </p:sp>
      <p:sp>
        <p:nvSpPr>
          <p:cNvPr id="273" name="Google Shape;273;p24"/>
          <p:cNvSpPr/>
          <p:nvPr/>
        </p:nvSpPr>
        <p:spPr>
          <a:xfrm>
            <a:off x="1497330" y="4068263"/>
            <a:ext cx="174879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D1D1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274" name="Google Shape;274;p24"/>
          <p:cNvSpPr/>
          <p:nvPr/>
        </p:nvSpPr>
        <p:spPr>
          <a:xfrm>
            <a:off x="6469375" y="3759445"/>
            <a:ext cx="15774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9A9693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/>
          <p:nvPr/>
        </p:nvSpPr>
        <p:spPr>
          <a:xfrm>
            <a:off x="300038" y="200025"/>
            <a:ext cx="628650" cy="5000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300038" y="357188"/>
            <a:ext cx="6429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Weekly Workstream Audit</a:t>
            </a:r>
            <a:endParaRPr sz="1100"/>
          </a:p>
        </p:txBody>
      </p:sp>
      <p:sp>
        <p:nvSpPr>
          <p:cNvPr id="282" name="Google Shape;282;p25"/>
          <p:cNvSpPr/>
          <p:nvPr/>
        </p:nvSpPr>
        <p:spPr>
          <a:xfrm>
            <a:off x="6643688" y="450056"/>
            <a:ext cx="2200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D79"/>
                </a:solidFill>
              </a:rPr>
              <a:t>October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800">
                <a:solidFill>
                  <a:srgbClr val="666D79"/>
                </a:solidFill>
              </a:rPr>
              <a:t>19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, 2026  |  1</a:t>
            </a:r>
            <a:r>
              <a:rPr b="1" lang="en" sz="800">
                <a:solidFill>
                  <a:srgbClr val="666D79"/>
                </a:solidFill>
              </a:rPr>
              <a:t>2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 sz="800">
                <a:solidFill>
                  <a:srgbClr val="666D79"/>
                </a:solidFill>
              </a:rPr>
              <a:t>01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800">
                <a:solidFill>
                  <a:srgbClr val="666D79"/>
                </a:solidFill>
              </a:rPr>
              <a:t>P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100"/>
          </a:p>
        </p:txBody>
      </p:sp>
      <p:sp>
        <p:nvSpPr>
          <p:cNvPr id="283" name="Google Shape;283;p25"/>
          <p:cNvSpPr/>
          <p:nvPr/>
        </p:nvSpPr>
        <p:spPr>
          <a:xfrm>
            <a:off x="300038" y="942975"/>
            <a:ext cx="80010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652"/>
                </a:solidFill>
              </a:rPr>
              <a:t>Three</a:t>
            </a:r>
            <a:r>
              <a:rPr lang="en" sz="1500">
                <a:solidFill>
                  <a:srgbClr val="3F4652"/>
                </a:solidFill>
                <a:latin typeface="Arial"/>
                <a:ea typeface="Arial"/>
                <a:cs typeface="Arial"/>
                <a:sym typeface="Arial"/>
              </a:rPr>
              <a:t> stores </a:t>
            </a:r>
            <a:r>
              <a:rPr lang="en" sz="1500">
                <a:solidFill>
                  <a:srgbClr val="3F4652"/>
                </a:solidFill>
              </a:rPr>
              <a:t>are</a:t>
            </a:r>
            <a:r>
              <a:rPr lang="en" sz="1500">
                <a:solidFill>
                  <a:srgbClr val="3F4652"/>
                </a:solidFill>
                <a:latin typeface="Arial"/>
                <a:ea typeface="Arial"/>
                <a:cs typeface="Arial"/>
                <a:sym typeface="Arial"/>
              </a:rPr>
              <a:t> out of compliance with the daily Workstream requirement.</a:t>
            </a:r>
            <a:endParaRPr sz="1100"/>
          </a:p>
        </p:txBody>
      </p:sp>
      <p:sp>
        <p:nvSpPr>
          <p:cNvPr id="284" name="Google Shape;284;p25"/>
          <p:cNvSpPr/>
          <p:nvPr/>
        </p:nvSpPr>
        <p:spPr>
          <a:xfrm>
            <a:off x="300038" y="1757363"/>
            <a:ext cx="2543175" cy="2043113"/>
          </a:xfrm>
          <a:prstGeom prst="roundRect">
            <a:avLst>
              <a:gd fmla="val 4196" name="adj"/>
            </a:avLst>
          </a:prstGeom>
          <a:solidFill>
            <a:srgbClr val="F2F2F2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514350" y="2014538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61616"/>
                </a:solidFill>
              </a:rPr>
              <a:t>11</a:t>
            </a:r>
            <a:r>
              <a:rPr b="1" lang="en" sz="3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 / 1</a:t>
            </a:r>
            <a:r>
              <a:rPr b="1" lang="en" sz="3200">
                <a:solidFill>
                  <a:srgbClr val="161616"/>
                </a:solidFill>
              </a:rPr>
              <a:t>3</a:t>
            </a:r>
            <a:endParaRPr sz="1100"/>
          </a:p>
        </p:txBody>
      </p:sp>
      <p:sp>
        <p:nvSpPr>
          <p:cNvPr id="286" name="Google Shape;286;p25"/>
          <p:cNvSpPr/>
          <p:nvPr/>
        </p:nvSpPr>
        <p:spPr>
          <a:xfrm>
            <a:off x="514350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Checked today</a:t>
            </a:r>
            <a:endParaRPr sz="1100"/>
          </a:p>
        </p:txBody>
      </p:sp>
      <p:sp>
        <p:nvSpPr>
          <p:cNvPr id="287" name="Google Shape;287;p25"/>
          <p:cNvSpPr/>
          <p:nvPr/>
        </p:nvSpPr>
        <p:spPr>
          <a:xfrm>
            <a:off x="514350" y="3028950"/>
            <a:ext cx="21145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E55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5563"/>
                </a:solidFill>
              </a:rPr>
              <a:t>11</a:t>
            </a:r>
            <a:r>
              <a:rPr lang="en" sz="1000">
                <a:solidFill>
                  <a:srgbClr val="4E5563"/>
                </a:solidFill>
                <a:latin typeface="Arial"/>
                <a:ea typeface="Arial"/>
                <a:cs typeface="Arial"/>
                <a:sym typeface="Arial"/>
              </a:rPr>
              <a:t> store accounts were active as of the </a:t>
            </a:r>
            <a:r>
              <a:rPr lang="en" sz="1000">
                <a:solidFill>
                  <a:srgbClr val="4E5563"/>
                </a:solidFill>
              </a:rPr>
              <a:t>AM</a:t>
            </a:r>
            <a:r>
              <a:rPr lang="en" sz="1000">
                <a:solidFill>
                  <a:srgbClr val="4E5563"/>
                </a:solidFill>
                <a:latin typeface="Arial"/>
                <a:ea typeface="Arial"/>
                <a:cs typeface="Arial"/>
                <a:sym typeface="Arial"/>
              </a:rPr>
              <a:t> audit.</a:t>
            </a:r>
            <a:endParaRPr sz="1000">
              <a:solidFill>
                <a:srgbClr val="4E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E55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5563"/>
                </a:solidFill>
              </a:rPr>
              <a:t>5/6 above-store leaders active within 24 hours. </a:t>
            </a:r>
            <a:endParaRPr sz="1000">
              <a:solidFill>
                <a:srgbClr val="4E5563"/>
              </a:solidFill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300413" y="1757363"/>
            <a:ext cx="2543175" cy="2043113"/>
          </a:xfrm>
          <a:prstGeom prst="roundRect">
            <a:avLst>
              <a:gd fmla="val 4196" name="adj"/>
            </a:avLst>
          </a:prstGeom>
          <a:solidFill>
            <a:srgbClr val="FFF8E8"/>
          </a:solidFill>
          <a:ln cap="flat" cmpd="sng" w="9525">
            <a:solidFill>
              <a:srgbClr val="EBC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3514725" y="2014538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9A6700"/>
                </a:solidFill>
              </a:rPr>
              <a:t>2</a:t>
            </a:r>
            <a:endParaRPr sz="1100"/>
          </a:p>
        </p:txBody>
      </p:sp>
      <p:sp>
        <p:nvSpPr>
          <p:cNvPr id="290" name="Google Shape;290;p25"/>
          <p:cNvSpPr/>
          <p:nvPr/>
        </p:nvSpPr>
        <p:spPr>
          <a:xfrm>
            <a:off x="3514725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Need follow-up</a:t>
            </a:r>
            <a:endParaRPr sz="1100"/>
          </a:p>
        </p:txBody>
      </p:sp>
      <p:sp>
        <p:nvSpPr>
          <p:cNvPr id="291" name="Google Shape;291;p25"/>
          <p:cNvSpPr/>
          <p:nvPr/>
        </p:nvSpPr>
        <p:spPr>
          <a:xfrm>
            <a:off x="3514725" y="3028950"/>
            <a:ext cx="21145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5563"/>
                </a:solidFill>
              </a:rPr>
              <a:t>Brentwood</a:t>
            </a:r>
            <a:endParaRPr sz="1000">
              <a:solidFill>
                <a:srgbClr val="4E55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5563"/>
                </a:solidFill>
              </a:rPr>
              <a:t>Hillcrest</a:t>
            </a:r>
            <a:endParaRPr sz="1000">
              <a:solidFill>
                <a:srgbClr val="4E5563"/>
              </a:solidFill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6300788" y="1757363"/>
            <a:ext cx="2543175" cy="2043113"/>
          </a:xfrm>
          <a:prstGeom prst="roundRect">
            <a:avLst>
              <a:gd fmla="val 4196" name="adj"/>
            </a:avLst>
          </a:prstGeom>
          <a:solidFill>
            <a:srgbClr val="FFF1F1"/>
          </a:solidFill>
          <a:ln cap="flat" cmpd="sng" w="9525">
            <a:solidFill>
              <a:srgbClr val="F2B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6515100" y="2014538"/>
            <a:ext cx="2114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D71920"/>
                </a:solidFill>
              </a:rPr>
              <a:t>0</a:t>
            </a:r>
            <a:endParaRPr sz="1100"/>
          </a:p>
        </p:txBody>
      </p:sp>
      <p:sp>
        <p:nvSpPr>
          <p:cNvPr id="294" name="Google Shape;294;p25"/>
          <p:cNvSpPr/>
          <p:nvPr/>
        </p:nvSpPr>
        <p:spPr>
          <a:xfrm>
            <a:off x="6515100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48+ hours inactive</a:t>
            </a:r>
            <a:endParaRPr sz="1100"/>
          </a:p>
        </p:txBody>
      </p:sp>
      <p:sp>
        <p:nvSpPr>
          <p:cNvPr id="295" name="Google Shape;295;p25"/>
          <p:cNvSpPr/>
          <p:nvPr/>
        </p:nvSpPr>
        <p:spPr>
          <a:xfrm>
            <a:off x="6515100" y="3028950"/>
            <a:ext cx="2114550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96" name="Google Shape;296;p25"/>
          <p:cNvSpPr/>
          <p:nvPr/>
        </p:nvSpPr>
        <p:spPr>
          <a:xfrm>
            <a:off x="300038" y="4071938"/>
            <a:ext cx="8543925" cy="685800"/>
          </a:xfrm>
          <a:prstGeom prst="roundRect">
            <a:avLst>
              <a:gd fmla="val 8333" name="adj"/>
            </a:avLst>
          </a:prstGeom>
          <a:solidFill>
            <a:srgbClr val="171717"/>
          </a:solidFill>
          <a:ln cap="flat" cmpd="sng" w="9525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514350" y="4291013"/>
            <a:ext cx="1285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04A50"/>
                </a:solidFill>
                <a:latin typeface="Arial"/>
                <a:ea typeface="Arial"/>
                <a:cs typeface="Arial"/>
                <a:sym typeface="Arial"/>
              </a:rPr>
              <a:t>DAILY STANDARD</a:t>
            </a:r>
            <a:endParaRPr sz="1100"/>
          </a:p>
        </p:txBody>
      </p:sp>
      <p:sp>
        <p:nvSpPr>
          <p:cNvPr id="298" name="Google Shape;298;p25"/>
          <p:cNvSpPr/>
          <p:nvPr/>
        </p:nvSpPr>
        <p:spPr>
          <a:xfrm>
            <a:off x="1857375" y="4186238"/>
            <a:ext cx="66436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store checks Workstream every single day. 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/>
          <p:nvPr/>
        </p:nvSpPr>
        <p:spPr>
          <a:xfrm>
            <a:off x="300038" y="200025"/>
            <a:ext cx="628800" cy="501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300038" y="357188"/>
            <a:ext cx="64293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Weekly </a:t>
            </a:r>
            <a:r>
              <a:rPr b="1" lang="en" sz="2700">
                <a:solidFill>
                  <a:srgbClr val="161616"/>
                </a:solidFill>
              </a:rPr>
              <a:t>GroupMe</a:t>
            </a:r>
            <a:r>
              <a:rPr b="1" lang="en" sz="2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 Audit</a:t>
            </a:r>
            <a:endParaRPr sz="1100"/>
          </a:p>
        </p:txBody>
      </p:sp>
      <p:sp>
        <p:nvSpPr>
          <p:cNvPr id="306" name="Google Shape;306;p26"/>
          <p:cNvSpPr/>
          <p:nvPr/>
        </p:nvSpPr>
        <p:spPr>
          <a:xfrm>
            <a:off x="6643688" y="450056"/>
            <a:ext cx="220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D79"/>
                </a:solidFill>
              </a:rPr>
              <a:t>October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800">
                <a:solidFill>
                  <a:srgbClr val="666D79"/>
                </a:solidFill>
              </a:rPr>
              <a:t>19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, 2026  |  </a:t>
            </a:r>
            <a:r>
              <a:rPr b="1" lang="en" sz="800">
                <a:solidFill>
                  <a:srgbClr val="666D79"/>
                </a:solidFill>
              </a:rPr>
              <a:t>12:01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800">
                <a:solidFill>
                  <a:srgbClr val="666D79"/>
                </a:solidFill>
              </a:rPr>
              <a:t>P</a:t>
            </a:r>
            <a:r>
              <a:rPr b="1" lang="en" sz="800">
                <a:solidFill>
                  <a:srgbClr val="666D79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100"/>
          </a:p>
        </p:txBody>
      </p:sp>
      <p:sp>
        <p:nvSpPr>
          <p:cNvPr id="307" name="Google Shape;307;p26"/>
          <p:cNvSpPr/>
          <p:nvPr/>
        </p:nvSpPr>
        <p:spPr>
          <a:xfrm>
            <a:off x="300038" y="942975"/>
            <a:ext cx="8001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652"/>
                </a:solidFill>
                <a:latin typeface="Arial"/>
                <a:ea typeface="Arial"/>
                <a:cs typeface="Arial"/>
                <a:sym typeface="Arial"/>
              </a:rPr>
              <a:t>One store is materially out of compliance with the daily </a:t>
            </a:r>
            <a:r>
              <a:rPr lang="en" sz="1500">
                <a:solidFill>
                  <a:srgbClr val="3F4652"/>
                </a:solidFill>
              </a:rPr>
              <a:t>GroupMe</a:t>
            </a:r>
            <a:r>
              <a:rPr lang="en" sz="1500">
                <a:solidFill>
                  <a:srgbClr val="3F4652"/>
                </a:solidFill>
                <a:latin typeface="Arial"/>
                <a:ea typeface="Arial"/>
                <a:cs typeface="Arial"/>
                <a:sym typeface="Arial"/>
              </a:rPr>
              <a:t> requirement.</a:t>
            </a:r>
            <a:endParaRPr sz="1100"/>
          </a:p>
        </p:txBody>
      </p:sp>
      <p:sp>
        <p:nvSpPr>
          <p:cNvPr id="308" name="Google Shape;308;p26"/>
          <p:cNvSpPr/>
          <p:nvPr/>
        </p:nvSpPr>
        <p:spPr>
          <a:xfrm>
            <a:off x="300038" y="1357313"/>
            <a:ext cx="8001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37986"/>
                </a:solidFill>
                <a:latin typeface="Arial"/>
                <a:ea typeface="Arial"/>
                <a:cs typeface="Arial"/>
                <a:sym typeface="Arial"/>
              </a:rPr>
              <a:t>Every store is required to check </a:t>
            </a:r>
            <a:r>
              <a:rPr lang="en" sz="1000">
                <a:solidFill>
                  <a:srgbClr val="737986"/>
                </a:solidFill>
              </a:rPr>
              <a:t>GroupMe</a:t>
            </a:r>
            <a:r>
              <a:rPr lang="en" sz="1000">
                <a:solidFill>
                  <a:srgbClr val="737986"/>
                </a:solidFill>
                <a:latin typeface="Arial"/>
                <a:ea typeface="Arial"/>
                <a:cs typeface="Arial"/>
                <a:sym typeface="Arial"/>
              </a:rPr>
              <a:t> every day; activity within 24 hours is the expectation.</a:t>
            </a:r>
            <a:endParaRPr sz="1100"/>
          </a:p>
        </p:txBody>
      </p:sp>
      <p:sp>
        <p:nvSpPr>
          <p:cNvPr id="309" name="Google Shape;309;p26"/>
          <p:cNvSpPr/>
          <p:nvPr/>
        </p:nvSpPr>
        <p:spPr>
          <a:xfrm>
            <a:off x="300038" y="1757363"/>
            <a:ext cx="2543100" cy="2043000"/>
          </a:xfrm>
          <a:prstGeom prst="roundRect">
            <a:avLst>
              <a:gd fmla="val 4196" name="adj"/>
            </a:avLst>
          </a:prstGeom>
          <a:solidFill>
            <a:srgbClr val="F2F2F2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514350" y="2014538"/>
            <a:ext cx="2114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61616"/>
                </a:solidFill>
              </a:rPr>
              <a:t>12</a:t>
            </a:r>
            <a:r>
              <a:rPr b="1" lang="en" sz="3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 / 1</a:t>
            </a:r>
            <a:r>
              <a:rPr b="1" lang="en" sz="3200">
                <a:solidFill>
                  <a:srgbClr val="161616"/>
                </a:solidFill>
              </a:rPr>
              <a:t>3</a:t>
            </a:r>
            <a:endParaRPr sz="1100"/>
          </a:p>
        </p:txBody>
      </p:sp>
      <p:sp>
        <p:nvSpPr>
          <p:cNvPr id="311" name="Google Shape;311;p26"/>
          <p:cNvSpPr/>
          <p:nvPr/>
        </p:nvSpPr>
        <p:spPr>
          <a:xfrm>
            <a:off x="514350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</a:rPr>
              <a:t>Messaged</a:t>
            </a: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 today</a:t>
            </a:r>
            <a:endParaRPr sz="1100"/>
          </a:p>
        </p:txBody>
      </p:sp>
      <p:sp>
        <p:nvSpPr>
          <p:cNvPr id="312" name="Google Shape;312;p26"/>
          <p:cNvSpPr/>
          <p:nvPr/>
        </p:nvSpPr>
        <p:spPr>
          <a:xfrm>
            <a:off x="514350" y="3028950"/>
            <a:ext cx="21147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E556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E5563"/>
                </a:solidFill>
              </a:rPr>
              <a:t>12</a:t>
            </a:r>
            <a:r>
              <a:rPr lang="en" sz="1000">
                <a:solidFill>
                  <a:srgbClr val="4E5563"/>
                </a:solidFill>
                <a:latin typeface="Arial"/>
                <a:ea typeface="Arial"/>
                <a:cs typeface="Arial"/>
                <a:sym typeface="Arial"/>
              </a:rPr>
              <a:t> store accounts were active as of the AM audit.</a:t>
            </a:r>
            <a:endParaRPr sz="1000">
              <a:solidFill>
                <a:srgbClr val="4E5563"/>
              </a:solidFill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3300413" y="1757363"/>
            <a:ext cx="2543100" cy="2043000"/>
          </a:xfrm>
          <a:prstGeom prst="roundRect">
            <a:avLst>
              <a:gd fmla="val 4196" name="adj"/>
            </a:avLst>
          </a:prstGeom>
          <a:solidFill>
            <a:srgbClr val="FFF8E8"/>
          </a:solidFill>
          <a:ln cap="flat" cmpd="sng" w="9525">
            <a:solidFill>
              <a:srgbClr val="EBC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3514725" y="2014538"/>
            <a:ext cx="2114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9A6700"/>
                </a:solidFill>
              </a:rPr>
              <a:t>1</a:t>
            </a:r>
            <a:endParaRPr sz="1100"/>
          </a:p>
        </p:txBody>
      </p:sp>
      <p:sp>
        <p:nvSpPr>
          <p:cNvPr id="315" name="Google Shape;315;p26"/>
          <p:cNvSpPr/>
          <p:nvPr/>
        </p:nvSpPr>
        <p:spPr>
          <a:xfrm>
            <a:off x="3514725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Need follow-up</a:t>
            </a:r>
            <a:endParaRPr sz="1100"/>
          </a:p>
        </p:txBody>
      </p:sp>
      <p:sp>
        <p:nvSpPr>
          <p:cNvPr id="316" name="Google Shape;316;p26"/>
          <p:cNvSpPr/>
          <p:nvPr/>
        </p:nvSpPr>
        <p:spPr>
          <a:xfrm>
            <a:off x="3514725" y="3028950"/>
            <a:ext cx="21147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Hillcrest</a:t>
            </a:r>
            <a:r>
              <a:rPr lang="en" sz="1000">
                <a:solidFill>
                  <a:schemeClr val="dk1"/>
                </a:solidFill>
              </a:rPr>
              <a:t> - TWO Weeks IN A ROW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rgbClr val="FF0000"/>
              </a:solidFill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6300788" y="1757363"/>
            <a:ext cx="2543100" cy="2043000"/>
          </a:xfrm>
          <a:prstGeom prst="roundRect">
            <a:avLst>
              <a:gd fmla="val 4196" name="adj"/>
            </a:avLst>
          </a:prstGeom>
          <a:solidFill>
            <a:srgbClr val="FFF1F1"/>
          </a:solidFill>
          <a:ln cap="flat" cmpd="sng" w="9525">
            <a:solidFill>
              <a:srgbClr val="F2B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6515100" y="2014538"/>
            <a:ext cx="2114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D71920"/>
                </a:solidFill>
              </a:rPr>
              <a:t>0</a:t>
            </a:r>
            <a:endParaRPr sz="1100"/>
          </a:p>
        </p:txBody>
      </p:sp>
      <p:sp>
        <p:nvSpPr>
          <p:cNvPr id="319" name="Google Shape;319;p26"/>
          <p:cNvSpPr/>
          <p:nvPr/>
        </p:nvSpPr>
        <p:spPr>
          <a:xfrm>
            <a:off x="6515100" y="2624138"/>
            <a:ext cx="211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rPr>
              <a:t>48+ hours inactive</a:t>
            </a:r>
            <a:endParaRPr sz="1100"/>
          </a:p>
        </p:txBody>
      </p:sp>
      <p:sp>
        <p:nvSpPr>
          <p:cNvPr id="320" name="Google Shape;320;p26"/>
          <p:cNvSpPr/>
          <p:nvPr/>
        </p:nvSpPr>
        <p:spPr>
          <a:xfrm>
            <a:off x="6515100" y="3028950"/>
            <a:ext cx="21147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rgbClr val="FF0000"/>
              </a:solidFill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300038" y="4071938"/>
            <a:ext cx="8544000" cy="685800"/>
          </a:xfrm>
          <a:prstGeom prst="roundRect">
            <a:avLst>
              <a:gd fmla="val 8333" name="adj"/>
            </a:avLst>
          </a:prstGeom>
          <a:solidFill>
            <a:srgbClr val="171717"/>
          </a:solidFill>
          <a:ln cap="flat" cmpd="sng" w="9525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514350" y="4291013"/>
            <a:ext cx="12858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04A50"/>
                </a:solidFill>
                <a:latin typeface="Arial"/>
                <a:ea typeface="Arial"/>
                <a:cs typeface="Arial"/>
                <a:sym typeface="Arial"/>
              </a:rPr>
              <a:t>DAILY STANDARD</a:t>
            </a:r>
            <a:endParaRPr sz="1100"/>
          </a:p>
        </p:txBody>
      </p:sp>
      <p:sp>
        <p:nvSpPr>
          <p:cNvPr id="323" name="Google Shape;323;p26"/>
          <p:cNvSpPr/>
          <p:nvPr/>
        </p:nvSpPr>
        <p:spPr>
          <a:xfrm>
            <a:off x="1857375" y="4186238"/>
            <a:ext cx="66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store </a:t>
            </a:r>
            <a:r>
              <a:rPr b="1" lang="en" sz="1100">
                <a:solidFill>
                  <a:srgbClr val="FFFFFF"/>
                </a:solidFill>
              </a:rPr>
              <a:t>communicates in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FFFFFF"/>
                </a:solidFill>
              </a:rPr>
              <a:t>GroupMe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every single day. 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5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/>
          <p:nvPr/>
        </p:nvSpPr>
        <p:spPr>
          <a:xfrm>
            <a:off x="377202" y="233175"/>
            <a:ext cx="617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171717"/>
                </a:solidFill>
              </a:rPr>
              <a:t>October Drive-Thru </a:t>
            </a:r>
            <a:r>
              <a:rPr b="1" i="0" lang="en" sz="2000" u="none" cap="none" strike="noStrike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RBG Mystery Shop Results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377190" y="576072"/>
            <a:ext cx="5143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B7280"/>
                </a:solidFill>
              </a:rPr>
              <a:t>October Shops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377190" y="836676"/>
            <a:ext cx="754380" cy="4114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7"/>
          <p:cNvSpPr/>
          <p:nvPr/>
        </p:nvSpPr>
        <p:spPr>
          <a:xfrm>
            <a:off x="6892290" y="4924044"/>
            <a:ext cx="18653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HUDSON RESTAURANT GROUP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3" name="Google Shape;333;p27"/>
          <p:cNvGraphicFramePr/>
          <p:nvPr/>
        </p:nvGraphicFramePr>
        <p:xfrm>
          <a:off x="2974988" y="78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{C3E801A1-2D4B-4252-8048-F4D9BBB2FFA8}</a:tableStyleId>
              </a:tblPr>
              <a:tblGrid>
                <a:gridCol w="799875"/>
                <a:gridCol w="825625"/>
                <a:gridCol w="903075"/>
                <a:gridCol w="665425"/>
              </a:tblGrid>
              <a:tr h="261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Market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23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Store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23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Shop Date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23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</a:rPr>
                        <a:t>Score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42318"/>
                    </a:solidFill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Jefferson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10/2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100%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Hillcrest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10/3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100%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Columbia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10/1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95%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Oyster Point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10/4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95%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White House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10/2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94%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Springfield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10/5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91%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Brentwood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10/3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91%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TN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Spring Hill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10/1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87%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Hampton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10/5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83%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Chesapeake Square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10/2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82%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Beach</a:t>
                      </a:r>
                      <a:endParaRPr b="1"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10/4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68%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3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VA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/>
                        <a:t>College Drive</a:t>
                      </a:r>
                      <a:endParaRPr b="1" sz="600"/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10/2</a:t>
                      </a:r>
                      <a:endParaRPr sz="700"/>
                    </a:p>
                  </a:txBody>
                  <a:tcPr marT="91425" marB="91425" marR="91425" marL="91425" anchor="ctr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50%</a:t>
                      </a:r>
                      <a:endParaRPr b="1" sz="700"/>
                    </a:p>
                  </a:txBody>
                  <a:tcPr marT="91425" marB="91425" marR="91425" marL="91425" anchor="ctr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/>
          <p:nvPr/>
        </p:nvSpPr>
        <p:spPr>
          <a:xfrm>
            <a:off x="5686425" y="3554730"/>
            <a:ext cx="16002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BOH shift leaders/ Crew  needed</a:t>
            </a:r>
            <a:endParaRPr sz="800"/>
          </a:p>
        </p:txBody>
      </p:sp>
      <p:sp>
        <p:nvSpPr>
          <p:cNvPr id="340" name="Google Shape;340;p28"/>
          <p:cNvSpPr/>
          <p:nvPr/>
        </p:nvSpPr>
        <p:spPr>
          <a:xfrm>
            <a:off x="1114425" y="301752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Brandon Mason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400050" y="445770"/>
            <a:ext cx="73152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Our People: Leadership Bench &amp; Hiring Commitments (TN)</a:t>
            </a:r>
            <a:endParaRPr sz="800"/>
          </a:p>
        </p:txBody>
      </p:sp>
      <p:sp>
        <p:nvSpPr>
          <p:cNvPr id="342" name="Google Shape;342;p28"/>
          <p:cNvSpPr/>
          <p:nvPr/>
        </p:nvSpPr>
        <p:spPr>
          <a:xfrm>
            <a:off x="8332470" y="25146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292B"/>
                </a:solidFill>
                <a:latin typeface="Calibri"/>
                <a:ea typeface="Calibri"/>
                <a:cs typeface="Calibri"/>
                <a:sym typeface="Calibri"/>
              </a:rPr>
              <a:t>HUDSON</a:t>
            </a:r>
            <a:endParaRPr sz="800"/>
          </a:p>
        </p:txBody>
      </p:sp>
      <p:sp>
        <p:nvSpPr>
          <p:cNvPr id="343" name="Google Shape;343;p28"/>
          <p:cNvSpPr/>
          <p:nvPr/>
        </p:nvSpPr>
        <p:spPr>
          <a:xfrm>
            <a:off x="8298180" y="422910"/>
            <a:ext cx="69723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7F292B"/>
                </a:solidFill>
                <a:latin typeface="Calibri"/>
                <a:ea typeface="Calibri"/>
                <a:cs typeface="Calibri"/>
                <a:sym typeface="Calibri"/>
              </a:rPr>
              <a:t>RESTAURANT GROUP</a:t>
            </a:r>
            <a:endParaRPr sz="800"/>
          </a:p>
        </p:txBody>
      </p:sp>
      <p:sp>
        <p:nvSpPr>
          <p:cNvPr id="344" name="Google Shape;344;p28"/>
          <p:cNvSpPr/>
          <p:nvPr/>
        </p:nvSpPr>
        <p:spPr>
          <a:xfrm>
            <a:off x="314325" y="971550"/>
            <a:ext cx="80010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sz="800"/>
          </a:p>
        </p:txBody>
      </p:sp>
      <p:sp>
        <p:nvSpPr>
          <p:cNvPr id="345" name="Google Shape;345;p28"/>
          <p:cNvSpPr/>
          <p:nvPr/>
        </p:nvSpPr>
        <p:spPr>
          <a:xfrm>
            <a:off x="1114425" y="971550"/>
            <a:ext cx="8572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GM</a:t>
            </a:r>
            <a:endParaRPr sz="800"/>
          </a:p>
        </p:txBody>
      </p:sp>
      <p:sp>
        <p:nvSpPr>
          <p:cNvPr id="346" name="Google Shape;346;p28"/>
          <p:cNvSpPr/>
          <p:nvPr/>
        </p:nvSpPr>
        <p:spPr>
          <a:xfrm>
            <a:off x="1971675" y="971550"/>
            <a:ext cx="9715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AGM(s)</a:t>
            </a:r>
            <a:endParaRPr sz="800"/>
          </a:p>
        </p:txBody>
      </p:sp>
      <p:sp>
        <p:nvSpPr>
          <p:cNvPr id="347" name="Google Shape;347;p28"/>
          <p:cNvSpPr/>
          <p:nvPr/>
        </p:nvSpPr>
        <p:spPr>
          <a:xfrm>
            <a:off x="2943225" y="971550"/>
            <a:ext cx="13144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Directors</a:t>
            </a:r>
            <a:endParaRPr sz="800"/>
          </a:p>
        </p:txBody>
      </p:sp>
      <p:sp>
        <p:nvSpPr>
          <p:cNvPr id="348" name="Google Shape;348;p28"/>
          <p:cNvSpPr/>
          <p:nvPr/>
        </p:nvSpPr>
        <p:spPr>
          <a:xfrm>
            <a:off x="4257675" y="971550"/>
            <a:ext cx="7429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Shift Leads</a:t>
            </a:r>
            <a:endParaRPr sz="800"/>
          </a:p>
        </p:txBody>
      </p:sp>
      <p:sp>
        <p:nvSpPr>
          <p:cNvPr id="349" name="Google Shape;349;p28"/>
          <p:cNvSpPr/>
          <p:nvPr/>
        </p:nvSpPr>
        <p:spPr>
          <a:xfrm>
            <a:off x="5000625" y="971550"/>
            <a:ext cx="68580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Crew Need</a:t>
            </a:r>
            <a:endParaRPr sz="800"/>
          </a:p>
        </p:txBody>
      </p:sp>
      <p:sp>
        <p:nvSpPr>
          <p:cNvPr id="350" name="Google Shape;350;p28"/>
          <p:cNvSpPr/>
          <p:nvPr/>
        </p:nvSpPr>
        <p:spPr>
          <a:xfrm>
            <a:off x="5686425" y="971550"/>
            <a:ext cx="160020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This Week’s Commitment</a:t>
            </a:r>
            <a:endParaRPr sz="800"/>
          </a:p>
        </p:txBody>
      </p:sp>
      <p:sp>
        <p:nvSpPr>
          <p:cNvPr id="351" name="Google Shape;351;p28"/>
          <p:cNvSpPr/>
          <p:nvPr/>
        </p:nvSpPr>
        <p:spPr>
          <a:xfrm>
            <a:off x="7286625" y="971550"/>
            <a:ext cx="97155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800"/>
          </a:p>
        </p:txBody>
      </p:sp>
      <p:sp>
        <p:nvSpPr>
          <p:cNvPr id="352" name="Google Shape;352;p28"/>
          <p:cNvSpPr/>
          <p:nvPr/>
        </p:nvSpPr>
        <p:spPr>
          <a:xfrm>
            <a:off x="8258175" y="971550"/>
            <a:ext cx="57150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Due</a:t>
            </a:r>
            <a:endParaRPr sz="800"/>
          </a:p>
        </p:txBody>
      </p:sp>
      <p:sp>
        <p:nvSpPr>
          <p:cNvPr id="353" name="Google Shape;353;p28"/>
          <p:cNvSpPr/>
          <p:nvPr/>
        </p:nvSpPr>
        <p:spPr>
          <a:xfrm>
            <a:off x="314325" y="140589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Brentwood</a:t>
            </a:r>
            <a:endParaRPr sz="800"/>
          </a:p>
        </p:txBody>
      </p:sp>
      <p:sp>
        <p:nvSpPr>
          <p:cNvPr id="354" name="Google Shape;354;p28"/>
          <p:cNvSpPr/>
          <p:nvPr/>
        </p:nvSpPr>
        <p:spPr>
          <a:xfrm>
            <a:off x="1971675" y="140589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Dale Dotson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55" name="Google Shape;355;p28"/>
          <p:cNvSpPr/>
          <p:nvPr/>
        </p:nvSpPr>
        <p:spPr>
          <a:xfrm>
            <a:off x="1114425" y="140589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Caleb Haney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56" name="Google Shape;356;p28"/>
          <p:cNvSpPr/>
          <p:nvPr/>
        </p:nvSpPr>
        <p:spPr>
          <a:xfrm>
            <a:off x="2943225" y="140589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Jayla G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800"/>
          </a:p>
        </p:txBody>
      </p:sp>
      <p:sp>
        <p:nvSpPr>
          <p:cNvPr id="357" name="Google Shape;357;p28"/>
          <p:cNvSpPr/>
          <p:nvPr/>
        </p:nvSpPr>
        <p:spPr>
          <a:xfrm>
            <a:off x="4257675" y="140589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800"/>
          </a:p>
        </p:txBody>
      </p:sp>
      <p:sp>
        <p:nvSpPr>
          <p:cNvPr id="358" name="Google Shape;358;p28"/>
          <p:cNvSpPr/>
          <p:nvPr/>
        </p:nvSpPr>
        <p:spPr>
          <a:xfrm>
            <a:off x="5000625" y="140589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/>
          </a:p>
        </p:txBody>
      </p:sp>
      <p:sp>
        <p:nvSpPr>
          <p:cNvPr id="359" name="Google Shape;359;p28"/>
          <p:cNvSpPr/>
          <p:nvPr/>
        </p:nvSpPr>
        <p:spPr>
          <a:xfrm>
            <a:off x="5686425" y="1405890"/>
            <a:ext cx="16002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Fill 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3-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Director opening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(DT,HD,QD)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need to add 4  shift leads</a:t>
            </a:r>
            <a:endParaRPr sz="800"/>
          </a:p>
        </p:txBody>
      </p:sp>
      <p:sp>
        <p:nvSpPr>
          <p:cNvPr id="360" name="Google Shape;360;p28"/>
          <p:cNvSpPr/>
          <p:nvPr/>
        </p:nvSpPr>
        <p:spPr>
          <a:xfrm>
            <a:off x="7286625" y="140589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Tommy</a:t>
            </a:r>
            <a:endParaRPr sz="800"/>
          </a:p>
        </p:txBody>
      </p:sp>
      <p:sp>
        <p:nvSpPr>
          <p:cNvPr id="361" name="Google Shape;361;p28"/>
          <p:cNvSpPr/>
          <p:nvPr/>
        </p:nvSpPr>
        <p:spPr>
          <a:xfrm>
            <a:off x="8258175" y="140589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362" name="Google Shape;362;p28"/>
          <p:cNvSpPr/>
          <p:nvPr/>
        </p:nvSpPr>
        <p:spPr>
          <a:xfrm>
            <a:off x="314325" y="194310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Columbia</a:t>
            </a:r>
            <a:endParaRPr sz="800"/>
          </a:p>
        </p:txBody>
      </p:sp>
      <p:sp>
        <p:nvSpPr>
          <p:cNvPr id="363" name="Google Shape;363;p28"/>
          <p:cNvSpPr/>
          <p:nvPr/>
        </p:nvSpPr>
        <p:spPr>
          <a:xfrm>
            <a:off x="1114425" y="194310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Kei Barner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64" name="Google Shape;364;p28"/>
          <p:cNvSpPr/>
          <p:nvPr/>
        </p:nvSpPr>
        <p:spPr>
          <a:xfrm>
            <a:off x="1971675" y="194310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Ron S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2943225" y="194310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Ben W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Kayla M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Kaitlin W (HD)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sz="800"/>
          </a:p>
        </p:txBody>
      </p:sp>
      <p:sp>
        <p:nvSpPr>
          <p:cNvPr id="366" name="Google Shape;366;p28"/>
          <p:cNvSpPr/>
          <p:nvPr/>
        </p:nvSpPr>
        <p:spPr>
          <a:xfrm>
            <a:off x="4257675" y="194310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9/9</a:t>
            </a:r>
            <a:endParaRPr sz="800"/>
          </a:p>
        </p:txBody>
      </p:sp>
      <p:sp>
        <p:nvSpPr>
          <p:cNvPr id="367" name="Google Shape;367;p28"/>
          <p:cNvSpPr/>
          <p:nvPr/>
        </p:nvSpPr>
        <p:spPr>
          <a:xfrm>
            <a:off x="5000625" y="194310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1-3</a:t>
            </a:r>
            <a:endParaRPr sz="800"/>
          </a:p>
        </p:txBody>
      </p:sp>
      <p:sp>
        <p:nvSpPr>
          <p:cNvPr id="368" name="Google Shape;368;p28"/>
          <p:cNvSpPr/>
          <p:nvPr/>
        </p:nvSpPr>
        <p:spPr>
          <a:xfrm>
            <a:off x="5686425" y="1943100"/>
            <a:ext cx="16002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Fill 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DTD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opening</a:t>
            </a:r>
            <a:endParaRPr sz="800"/>
          </a:p>
        </p:txBody>
      </p:sp>
      <p:sp>
        <p:nvSpPr>
          <p:cNvPr id="369" name="Google Shape;369;p28"/>
          <p:cNvSpPr/>
          <p:nvPr/>
        </p:nvSpPr>
        <p:spPr>
          <a:xfrm>
            <a:off x="7286625" y="194310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Tommy</a:t>
            </a:r>
            <a:endParaRPr sz="800"/>
          </a:p>
        </p:txBody>
      </p:sp>
      <p:sp>
        <p:nvSpPr>
          <p:cNvPr id="370" name="Google Shape;370;p28"/>
          <p:cNvSpPr/>
          <p:nvPr/>
        </p:nvSpPr>
        <p:spPr>
          <a:xfrm>
            <a:off x="8258175" y="194310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371" name="Google Shape;371;p28"/>
          <p:cNvSpPr/>
          <p:nvPr/>
        </p:nvSpPr>
        <p:spPr>
          <a:xfrm>
            <a:off x="314325" y="248031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Springfield</a:t>
            </a:r>
            <a:endParaRPr sz="800"/>
          </a:p>
        </p:txBody>
      </p:sp>
      <p:sp>
        <p:nvSpPr>
          <p:cNvPr id="372" name="Google Shape;372;p28"/>
          <p:cNvSpPr/>
          <p:nvPr/>
        </p:nvSpPr>
        <p:spPr>
          <a:xfrm>
            <a:off x="1114425" y="248031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Dani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73" name="Google Shape;373;p28"/>
          <p:cNvSpPr/>
          <p:nvPr/>
        </p:nvSpPr>
        <p:spPr>
          <a:xfrm>
            <a:off x="1971675" y="248031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Tori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74" name="Google Shape;374;p28"/>
          <p:cNvSpPr/>
          <p:nvPr/>
        </p:nvSpPr>
        <p:spPr>
          <a:xfrm>
            <a:off x="2943225" y="248031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David (DT)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Janaejah (HD)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Russell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Audrey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sz="800"/>
          </a:p>
        </p:txBody>
      </p:sp>
      <p:sp>
        <p:nvSpPr>
          <p:cNvPr id="375" name="Google Shape;375;p28"/>
          <p:cNvSpPr/>
          <p:nvPr/>
        </p:nvSpPr>
        <p:spPr>
          <a:xfrm>
            <a:off x="4257675" y="248031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/7</a:t>
            </a:r>
            <a:endParaRPr sz="800"/>
          </a:p>
        </p:txBody>
      </p:sp>
      <p:sp>
        <p:nvSpPr>
          <p:cNvPr id="376" name="Google Shape;376;p28"/>
          <p:cNvSpPr/>
          <p:nvPr/>
        </p:nvSpPr>
        <p:spPr>
          <a:xfrm>
            <a:off x="5000625" y="248031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/>
          </a:p>
        </p:txBody>
      </p:sp>
      <p:sp>
        <p:nvSpPr>
          <p:cNvPr id="377" name="Google Shape;377;p28"/>
          <p:cNvSpPr/>
          <p:nvPr/>
        </p:nvSpPr>
        <p:spPr>
          <a:xfrm>
            <a:off x="5686425" y="2480310"/>
            <a:ext cx="16002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Adding Crew members</a:t>
            </a:r>
            <a:endParaRPr sz="800"/>
          </a:p>
        </p:txBody>
      </p:sp>
      <p:sp>
        <p:nvSpPr>
          <p:cNvPr id="378" name="Google Shape;378;p28"/>
          <p:cNvSpPr/>
          <p:nvPr/>
        </p:nvSpPr>
        <p:spPr>
          <a:xfrm>
            <a:off x="7286625" y="248031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379" name="Google Shape;379;p28"/>
          <p:cNvSpPr/>
          <p:nvPr/>
        </p:nvSpPr>
        <p:spPr>
          <a:xfrm>
            <a:off x="8258175" y="248031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380" name="Google Shape;380;p28"/>
          <p:cNvSpPr/>
          <p:nvPr/>
        </p:nvSpPr>
        <p:spPr>
          <a:xfrm>
            <a:off x="314325" y="301752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Spring Hill</a:t>
            </a:r>
            <a:endParaRPr sz="800"/>
          </a:p>
        </p:txBody>
      </p:sp>
      <p:sp>
        <p:nvSpPr>
          <p:cNvPr id="381" name="Google Shape;381;p28"/>
          <p:cNvSpPr/>
          <p:nvPr/>
        </p:nvSpPr>
        <p:spPr>
          <a:xfrm>
            <a:off x="1971675" y="301752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Emma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/>
          </a:p>
        </p:txBody>
      </p:sp>
      <p:sp>
        <p:nvSpPr>
          <p:cNvPr id="382" name="Google Shape;382;p28"/>
          <p:cNvSpPr/>
          <p:nvPr/>
        </p:nvSpPr>
        <p:spPr>
          <a:xfrm>
            <a:off x="2943225" y="301752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Stephanie D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David D (DTD)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Brylee C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Kaitlyn D (HD)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4257675" y="301752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/6</a:t>
            </a:r>
            <a:endParaRPr sz="800"/>
          </a:p>
        </p:txBody>
      </p:sp>
      <p:sp>
        <p:nvSpPr>
          <p:cNvPr id="384" name="Google Shape;384;p28"/>
          <p:cNvSpPr/>
          <p:nvPr/>
        </p:nvSpPr>
        <p:spPr>
          <a:xfrm>
            <a:off x="5000625" y="301752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/>
          </a:p>
        </p:txBody>
      </p:sp>
      <p:sp>
        <p:nvSpPr>
          <p:cNvPr id="385" name="Google Shape;385;p28"/>
          <p:cNvSpPr/>
          <p:nvPr/>
        </p:nvSpPr>
        <p:spPr>
          <a:xfrm>
            <a:off x="7286625" y="301752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Tommy</a:t>
            </a:r>
            <a:endParaRPr sz="800"/>
          </a:p>
        </p:txBody>
      </p:sp>
      <p:sp>
        <p:nvSpPr>
          <p:cNvPr id="386" name="Google Shape;386;p28"/>
          <p:cNvSpPr/>
          <p:nvPr/>
        </p:nvSpPr>
        <p:spPr>
          <a:xfrm>
            <a:off x="8258175" y="301752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387" name="Google Shape;387;p28"/>
          <p:cNvSpPr/>
          <p:nvPr/>
        </p:nvSpPr>
        <p:spPr>
          <a:xfrm>
            <a:off x="314325" y="355473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White House</a:t>
            </a:r>
            <a:endParaRPr sz="800"/>
          </a:p>
        </p:txBody>
      </p:sp>
      <p:sp>
        <p:nvSpPr>
          <p:cNvPr id="388" name="Google Shape;388;p28"/>
          <p:cNvSpPr/>
          <p:nvPr/>
        </p:nvSpPr>
        <p:spPr>
          <a:xfrm>
            <a:off x="1114425" y="355473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Chelsea Hewitt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89" name="Google Shape;389;p28"/>
          <p:cNvSpPr/>
          <p:nvPr/>
        </p:nvSpPr>
        <p:spPr>
          <a:xfrm>
            <a:off x="1971675" y="355473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Bonita Frey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90" name="Google Shape;390;p28"/>
          <p:cNvSpPr/>
          <p:nvPr/>
        </p:nvSpPr>
        <p:spPr>
          <a:xfrm>
            <a:off x="2943225" y="355473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Kira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Amanda (DT)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Amber (HD)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Josh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sz="800"/>
          </a:p>
        </p:txBody>
      </p:sp>
      <p:sp>
        <p:nvSpPr>
          <p:cNvPr id="391" name="Google Shape;391;p28"/>
          <p:cNvSpPr/>
          <p:nvPr/>
        </p:nvSpPr>
        <p:spPr>
          <a:xfrm>
            <a:off x="4257675" y="355473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/7</a:t>
            </a:r>
            <a:endParaRPr sz="800"/>
          </a:p>
        </p:txBody>
      </p:sp>
      <p:sp>
        <p:nvSpPr>
          <p:cNvPr id="392" name="Google Shape;392;p28"/>
          <p:cNvSpPr/>
          <p:nvPr/>
        </p:nvSpPr>
        <p:spPr>
          <a:xfrm>
            <a:off x="5000625" y="355473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/>
          </a:p>
        </p:txBody>
      </p:sp>
      <p:sp>
        <p:nvSpPr>
          <p:cNvPr id="393" name="Google Shape;393;p28"/>
          <p:cNvSpPr/>
          <p:nvPr/>
        </p:nvSpPr>
        <p:spPr>
          <a:xfrm>
            <a:off x="7286625" y="355473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Maegan</a:t>
            </a:r>
            <a:endParaRPr sz="800"/>
          </a:p>
        </p:txBody>
      </p:sp>
      <p:sp>
        <p:nvSpPr>
          <p:cNvPr id="394" name="Google Shape;394;p28"/>
          <p:cNvSpPr/>
          <p:nvPr/>
        </p:nvSpPr>
        <p:spPr>
          <a:xfrm>
            <a:off x="8258175" y="355473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395" name="Google Shape;395;p28"/>
          <p:cNvSpPr/>
          <p:nvPr/>
        </p:nvSpPr>
        <p:spPr>
          <a:xfrm>
            <a:off x="314325" y="4091940"/>
            <a:ext cx="8001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Portland</a:t>
            </a:r>
            <a:endParaRPr sz="800"/>
          </a:p>
        </p:txBody>
      </p:sp>
      <p:sp>
        <p:nvSpPr>
          <p:cNvPr id="396" name="Google Shape;396;p28"/>
          <p:cNvSpPr/>
          <p:nvPr/>
        </p:nvSpPr>
        <p:spPr>
          <a:xfrm>
            <a:off x="1114425" y="4091940"/>
            <a:ext cx="8572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Faith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97" name="Google Shape;397;p28"/>
          <p:cNvSpPr/>
          <p:nvPr/>
        </p:nvSpPr>
        <p:spPr>
          <a:xfrm>
            <a:off x="1971675" y="409194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Amethyst Lindsay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398" name="Google Shape;398;p28"/>
          <p:cNvSpPr/>
          <p:nvPr/>
        </p:nvSpPr>
        <p:spPr>
          <a:xfrm>
            <a:off x="2943225" y="4091940"/>
            <a:ext cx="13144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Ryan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Sky (DT)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Matthew (TD)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Michael (HD)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 sz="800"/>
          </a:p>
        </p:txBody>
      </p:sp>
      <p:sp>
        <p:nvSpPr>
          <p:cNvPr id="399" name="Google Shape;399;p28"/>
          <p:cNvSpPr/>
          <p:nvPr/>
        </p:nvSpPr>
        <p:spPr>
          <a:xfrm>
            <a:off x="4257675" y="4091940"/>
            <a:ext cx="7429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/7</a:t>
            </a:r>
            <a:endParaRPr sz="800"/>
          </a:p>
        </p:txBody>
      </p:sp>
      <p:sp>
        <p:nvSpPr>
          <p:cNvPr id="400" name="Google Shape;400;p28"/>
          <p:cNvSpPr/>
          <p:nvPr/>
        </p:nvSpPr>
        <p:spPr>
          <a:xfrm>
            <a:off x="5000625" y="4091940"/>
            <a:ext cx="6858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401" name="Google Shape;401;p28"/>
          <p:cNvSpPr/>
          <p:nvPr/>
        </p:nvSpPr>
        <p:spPr>
          <a:xfrm>
            <a:off x="5686425" y="4091940"/>
            <a:ext cx="16002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7286625" y="4091940"/>
            <a:ext cx="97155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Maegan</a:t>
            </a:r>
            <a:endParaRPr sz="800"/>
          </a:p>
        </p:txBody>
      </p:sp>
      <p:sp>
        <p:nvSpPr>
          <p:cNvPr id="403" name="Google Shape;403;p28"/>
          <p:cNvSpPr/>
          <p:nvPr/>
        </p:nvSpPr>
        <p:spPr>
          <a:xfrm>
            <a:off x="8258175" y="4091940"/>
            <a:ext cx="571500" cy="5372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04" name="Google Shape;404;p28"/>
          <p:cNvSpPr/>
          <p:nvPr/>
        </p:nvSpPr>
        <p:spPr>
          <a:xfrm>
            <a:off x="5669280" y="971550"/>
            <a:ext cx="34290" cy="365760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8"/>
          <p:cNvSpPr/>
          <p:nvPr/>
        </p:nvSpPr>
        <p:spPr>
          <a:xfrm>
            <a:off x="1200150" y="4709160"/>
            <a:ext cx="6743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Meeting prompt: Who is the next named hire or promotion, what happens this week, and by when?</a:t>
            </a:r>
            <a:endParaRPr sz="800"/>
          </a:p>
        </p:txBody>
      </p:sp>
      <p:sp>
        <p:nvSpPr>
          <p:cNvPr id="406" name="Google Shape;406;p28"/>
          <p:cNvSpPr/>
          <p:nvPr/>
        </p:nvSpPr>
        <p:spPr>
          <a:xfrm>
            <a:off x="6343650" y="4960620"/>
            <a:ext cx="2457450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© 2026 Hudson Restaurant Group  |  Proprietary &amp; Confidential</a:t>
            </a:r>
            <a:endParaRPr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/>
          <p:nvPr/>
        </p:nvSpPr>
        <p:spPr>
          <a:xfrm>
            <a:off x="2943225" y="274320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Shanika -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Jasmine- (DT)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2/4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7286625" y="318897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Raynesha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Chris</a:t>
            </a:r>
            <a:endParaRPr sz="800"/>
          </a:p>
        </p:txBody>
      </p:sp>
      <p:sp>
        <p:nvSpPr>
          <p:cNvPr id="414" name="Google Shape;414;p29"/>
          <p:cNvSpPr/>
          <p:nvPr/>
        </p:nvSpPr>
        <p:spPr>
          <a:xfrm>
            <a:off x="5000625" y="185166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2</a:t>
            </a:r>
            <a:endParaRPr sz="800"/>
          </a:p>
        </p:txBody>
      </p:sp>
      <p:sp>
        <p:nvSpPr>
          <p:cNvPr id="415" name="Google Shape;415;p29"/>
          <p:cNvSpPr/>
          <p:nvPr/>
        </p:nvSpPr>
        <p:spPr>
          <a:xfrm>
            <a:off x="5686425" y="4080510"/>
            <a:ext cx="16002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Fill 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Director openings, 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Shift Leads </a:t>
            </a:r>
            <a:endParaRPr sz="800"/>
          </a:p>
        </p:txBody>
      </p:sp>
      <p:sp>
        <p:nvSpPr>
          <p:cNvPr id="416" name="Google Shape;416;p29"/>
          <p:cNvSpPr/>
          <p:nvPr/>
        </p:nvSpPr>
        <p:spPr>
          <a:xfrm>
            <a:off x="2943225" y="363474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Roger - DT 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Maurita W - HD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Tre’von - QD (training - needs test)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Aidan B (Toby) - TD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4257675" y="274320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 sz="8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400050" y="445770"/>
            <a:ext cx="73152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Our People: Leadership Bench &amp; Hiring Commitments (VA)</a:t>
            </a:r>
            <a:endParaRPr sz="800"/>
          </a:p>
        </p:txBody>
      </p:sp>
      <p:sp>
        <p:nvSpPr>
          <p:cNvPr id="419" name="Google Shape;419;p29"/>
          <p:cNvSpPr/>
          <p:nvPr/>
        </p:nvSpPr>
        <p:spPr>
          <a:xfrm>
            <a:off x="8332470" y="25146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292B"/>
                </a:solidFill>
                <a:latin typeface="Calibri"/>
                <a:ea typeface="Calibri"/>
                <a:cs typeface="Calibri"/>
                <a:sym typeface="Calibri"/>
              </a:rPr>
              <a:t>HUDSON</a:t>
            </a:r>
            <a:endParaRPr sz="800"/>
          </a:p>
        </p:txBody>
      </p:sp>
      <p:sp>
        <p:nvSpPr>
          <p:cNvPr id="420" name="Google Shape;420;p29"/>
          <p:cNvSpPr/>
          <p:nvPr/>
        </p:nvSpPr>
        <p:spPr>
          <a:xfrm>
            <a:off x="8298180" y="422910"/>
            <a:ext cx="69723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7F292B"/>
                </a:solidFill>
                <a:latin typeface="Calibri"/>
                <a:ea typeface="Calibri"/>
                <a:cs typeface="Calibri"/>
                <a:sym typeface="Calibri"/>
              </a:rPr>
              <a:t>RESTAURANT GROUP</a:t>
            </a:r>
            <a:endParaRPr sz="800"/>
          </a:p>
        </p:txBody>
      </p:sp>
      <p:sp>
        <p:nvSpPr>
          <p:cNvPr id="421" name="Google Shape;421;p29"/>
          <p:cNvSpPr/>
          <p:nvPr/>
        </p:nvSpPr>
        <p:spPr>
          <a:xfrm>
            <a:off x="314325" y="971550"/>
            <a:ext cx="80010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sz="800"/>
          </a:p>
        </p:txBody>
      </p:sp>
      <p:sp>
        <p:nvSpPr>
          <p:cNvPr id="422" name="Google Shape;422;p29"/>
          <p:cNvSpPr/>
          <p:nvPr/>
        </p:nvSpPr>
        <p:spPr>
          <a:xfrm>
            <a:off x="1114425" y="971550"/>
            <a:ext cx="8572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GM</a:t>
            </a:r>
            <a:endParaRPr sz="800"/>
          </a:p>
        </p:txBody>
      </p:sp>
      <p:sp>
        <p:nvSpPr>
          <p:cNvPr id="423" name="Google Shape;423;p29"/>
          <p:cNvSpPr/>
          <p:nvPr/>
        </p:nvSpPr>
        <p:spPr>
          <a:xfrm>
            <a:off x="1971675" y="971550"/>
            <a:ext cx="9715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AGM(s)</a:t>
            </a:r>
            <a:endParaRPr sz="800"/>
          </a:p>
        </p:txBody>
      </p:sp>
      <p:sp>
        <p:nvSpPr>
          <p:cNvPr id="424" name="Google Shape;424;p29"/>
          <p:cNvSpPr/>
          <p:nvPr/>
        </p:nvSpPr>
        <p:spPr>
          <a:xfrm>
            <a:off x="2943225" y="971550"/>
            <a:ext cx="13144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Directors</a:t>
            </a:r>
            <a:endParaRPr sz="800"/>
          </a:p>
        </p:txBody>
      </p:sp>
      <p:sp>
        <p:nvSpPr>
          <p:cNvPr id="425" name="Google Shape;425;p29"/>
          <p:cNvSpPr/>
          <p:nvPr/>
        </p:nvSpPr>
        <p:spPr>
          <a:xfrm>
            <a:off x="4257675" y="971550"/>
            <a:ext cx="74295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Shift Leads</a:t>
            </a:r>
            <a:endParaRPr sz="800"/>
          </a:p>
        </p:txBody>
      </p:sp>
      <p:sp>
        <p:nvSpPr>
          <p:cNvPr id="426" name="Google Shape;426;p29"/>
          <p:cNvSpPr/>
          <p:nvPr/>
        </p:nvSpPr>
        <p:spPr>
          <a:xfrm>
            <a:off x="5000625" y="971550"/>
            <a:ext cx="685800" cy="4343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Crew Need</a:t>
            </a:r>
            <a:endParaRPr sz="800"/>
          </a:p>
        </p:txBody>
      </p:sp>
      <p:sp>
        <p:nvSpPr>
          <p:cNvPr id="427" name="Google Shape;427;p29"/>
          <p:cNvSpPr/>
          <p:nvPr/>
        </p:nvSpPr>
        <p:spPr>
          <a:xfrm>
            <a:off x="5686425" y="971550"/>
            <a:ext cx="160020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This Week’s Commitment</a:t>
            </a:r>
            <a:endParaRPr sz="800"/>
          </a:p>
        </p:txBody>
      </p:sp>
      <p:sp>
        <p:nvSpPr>
          <p:cNvPr id="428" name="Google Shape;428;p29"/>
          <p:cNvSpPr/>
          <p:nvPr/>
        </p:nvSpPr>
        <p:spPr>
          <a:xfrm>
            <a:off x="7286625" y="971550"/>
            <a:ext cx="97155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800"/>
          </a:p>
        </p:txBody>
      </p:sp>
      <p:sp>
        <p:nvSpPr>
          <p:cNvPr id="429" name="Google Shape;429;p29"/>
          <p:cNvSpPr/>
          <p:nvPr/>
        </p:nvSpPr>
        <p:spPr>
          <a:xfrm>
            <a:off x="8258175" y="971550"/>
            <a:ext cx="571500" cy="434340"/>
          </a:xfrm>
          <a:prstGeom prst="rect">
            <a:avLst/>
          </a:prstGeom>
          <a:solidFill>
            <a:srgbClr val="F2D5D4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Due</a:t>
            </a:r>
            <a:endParaRPr sz="800"/>
          </a:p>
        </p:txBody>
      </p:sp>
      <p:sp>
        <p:nvSpPr>
          <p:cNvPr id="430" name="Google Shape;430;p29"/>
          <p:cNvSpPr/>
          <p:nvPr/>
        </p:nvSpPr>
        <p:spPr>
          <a:xfrm>
            <a:off x="314325" y="140589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Jefferson</a:t>
            </a:r>
            <a:endParaRPr sz="800"/>
          </a:p>
        </p:txBody>
      </p:sp>
      <p:sp>
        <p:nvSpPr>
          <p:cNvPr id="431" name="Google Shape;431;p29"/>
          <p:cNvSpPr/>
          <p:nvPr/>
        </p:nvSpPr>
        <p:spPr>
          <a:xfrm>
            <a:off x="1114425" y="140589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Cliff</a:t>
            </a:r>
            <a:endParaRPr b="1" sz="700">
              <a:solidFill>
                <a:srgbClr val="7F29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b="1" sz="700">
              <a:solidFill>
                <a:srgbClr val="7F2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1971675" y="140589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/>
          </a:p>
        </p:txBody>
      </p:sp>
      <p:sp>
        <p:nvSpPr>
          <p:cNvPr id="433" name="Google Shape;433;p29"/>
          <p:cNvSpPr/>
          <p:nvPr/>
        </p:nvSpPr>
        <p:spPr>
          <a:xfrm>
            <a:off x="4257675" y="140589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/>
          </a:p>
        </p:txBody>
      </p:sp>
      <p:sp>
        <p:nvSpPr>
          <p:cNvPr id="434" name="Google Shape;434;p29"/>
          <p:cNvSpPr/>
          <p:nvPr/>
        </p:nvSpPr>
        <p:spPr>
          <a:xfrm>
            <a:off x="2943225" y="140589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800"/>
          </a:p>
        </p:txBody>
      </p:sp>
      <p:sp>
        <p:nvSpPr>
          <p:cNvPr id="435" name="Google Shape;435;p29"/>
          <p:cNvSpPr/>
          <p:nvPr/>
        </p:nvSpPr>
        <p:spPr>
          <a:xfrm>
            <a:off x="5000625" y="140589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800"/>
          </a:p>
        </p:txBody>
      </p:sp>
      <p:sp>
        <p:nvSpPr>
          <p:cNvPr id="436" name="Google Shape;436;p29"/>
          <p:cNvSpPr/>
          <p:nvPr/>
        </p:nvSpPr>
        <p:spPr>
          <a:xfrm>
            <a:off x="5686425" y="1405865"/>
            <a:ext cx="1600200" cy="4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Need ALL Directors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7286625" y="140589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/ Clifton</a:t>
            </a:r>
            <a:endParaRPr sz="800"/>
          </a:p>
        </p:txBody>
      </p:sp>
      <p:sp>
        <p:nvSpPr>
          <p:cNvPr id="438" name="Google Shape;438;p29"/>
          <p:cNvSpPr/>
          <p:nvPr/>
        </p:nvSpPr>
        <p:spPr>
          <a:xfrm>
            <a:off x="8258175" y="140589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39" name="Google Shape;439;p29"/>
          <p:cNvSpPr/>
          <p:nvPr/>
        </p:nvSpPr>
        <p:spPr>
          <a:xfrm>
            <a:off x="314325" y="185166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Oyster</a:t>
            </a:r>
            <a:endParaRPr sz="800"/>
          </a:p>
        </p:txBody>
      </p:sp>
      <p:sp>
        <p:nvSpPr>
          <p:cNvPr id="440" name="Google Shape;440;p29"/>
          <p:cNvSpPr/>
          <p:nvPr/>
        </p:nvSpPr>
        <p:spPr>
          <a:xfrm>
            <a:off x="1114425" y="185166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Calibri"/>
                <a:ea typeface="Calibri"/>
                <a:cs typeface="Calibri"/>
                <a:sym typeface="Calibri"/>
              </a:rPr>
              <a:t>Maurice R</a:t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/>
          </a:p>
        </p:txBody>
      </p:sp>
      <p:sp>
        <p:nvSpPr>
          <p:cNvPr id="441" name="Google Shape;441;p29"/>
          <p:cNvSpPr/>
          <p:nvPr/>
        </p:nvSpPr>
        <p:spPr>
          <a:xfrm>
            <a:off x="1971675" y="185166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Purvina - AGM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2943225" y="185166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Thomas Newton (DTD)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Antonio H (QD)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800"/>
          </a:p>
        </p:txBody>
      </p:sp>
      <p:sp>
        <p:nvSpPr>
          <p:cNvPr id="443" name="Google Shape;443;p29"/>
          <p:cNvSpPr/>
          <p:nvPr/>
        </p:nvSpPr>
        <p:spPr>
          <a:xfrm>
            <a:off x="4257675" y="185166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/>
          </a:p>
        </p:txBody>
      </p:sp>
      <p:sp>
        <p:nvSpPr>
          <p:cNvPr id="444" name="Google Shape;444;p29"/>
          <p:cNvSpPr/>
          <p:nvPr/>
        </p:nvSpPr>
        <p:spPr>
          <a:xfrm>
            <a:off x="5686425" y="1851660"/>
            <a:ext cx="16002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Fill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Director openings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7286625" y="185166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Star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/ Maurice</a:t>
            </a:r>
            <a:endParaRPr sz="800"/>
          </a:p>
        </p:txBody>
      </p:sp>
      <p:sp>
        <p:nvSpPr>
          <p:cNvPr id="446" name="Google Shape;446;p29"/>
          <p:cNvSpPr/>
          <p:nvPr/>
        </p:nvSpPr>
        <p:spPr>
          <a:xfrm>
            <a:off x="8258175" y="185166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47" name="Google Shape;447;p29"/>
          <p:cNvSpPr/>
          <p:nvPr/>
        </p:nvSpPr>
        <p:spPr>
          <a:xfrm>
            <a:off x="314325" y="229743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Hampton</a:t>
            </a:r>
            <a:endParaRPr sz="800"/>
          </a:p>
        </p:txBody>
      </p:sp>
      <p:sp>
        <p:nvSpPr>
          <p:cNvPr id="448" name="Google Shape;448;p29"/>
          <p:cNvSpPr/>
          <p:nvPr/>
        </p:nvSpPr>
        <p:spPr>
          <a:xfrm>
            <a:off x="1114425" y="2297430"/>
            <a:ext cx="857400" cy="4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Latonya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49" name="Google Shape;449;p29"/>
          <p:cNvSpPr/>
          <p:nvPr/>
        </p:nvSpPr>
        <p:spPr>
          <a:xfrm>
            <a:off x="1971675" y="229743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Carol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50" name="Google Shape;450;p29"/>
          <p:cNvSpPr/>
          <p:nvPr/>
        </p:nvSpPr>
        <p:spPr>
          <a:xfrm>
            <a:off x="2943225" y="229743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Meka (DT)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Anthony Cox (HD)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Watanza (TD)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3/</a:t>
            </a:r>
            <a:r>
              <a:rPr b="0"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/>
          </a:p>
        </p:txBody>
      </p:sp>
      <p:sp>
        <p:nvSpPr>
          <p:cNvPr id="451" name="Google Shape;451;p29"/>
          <p:cNvSpPr/>
          <p:nvPr/>
        </p:nvSpPr>
        <p:spPr>
          <a:xfrm>
            <a:off x="4257675" y="229743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/>
          </a:p>
        </p:txBody>
      </p:sp>
      <p:sp>
        <p:nvSpPr>
          <p:cNvPr id="452" name="Google Shape;452;p29"/>
          <p:cNvSpPr/>
          <p:nvPr/>
        </p:nvSpPr>
        <p:spPr>
          <a:xfrm>
            <a:off x="5000625" y="229743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15</a:t>
            </a:r>
            <a:endParaRPr sz="800"/>
          </a:p>
        </p:txBody>
      </p:sp>
      <p:sp>
        <p:nvSpPr>
          <p:cNvPr id="453" name="Google Shape;453;p29"/>
          <p:cNvSpPr/>
          <p:nvPr/>
        </p:nvSpPr>
        <p:spPr>
          <a:xfrm>
            <a:off x="5686425" y="2297430"/>
            <a:ext cx="16002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1 - Directors</a:t>
            </a:r>
            <a:b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2- Potential Internal SL</a:t>
            </a:r>
            <a:endParaRPr sz="800"/>
          </a:p>
        </p:txBody>
      </p:sp>
      <p:sp>
        <p:nvSpPr>
          <p:cNvPr id="454" name="Google Shape;454;p29"/>
          <p:cNvSpPr/>
          <p:nvPr/>
        </p:nvSpPr>
        <p:spPr>
          <a:xfrm>
            <a:off x="7286625" y="229743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Star 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Latonya</a:t>
            </a:r>
            <a:endParaRPr sz="800"/>
          </a:p>
        </p:txBody>
      </p:sp>
      <p:sp>
        <p:nvSpPr>
          <p:cNvPr id="455" name="Google Shape;455;p29"/>
          <p:cNvSpPr/>
          <p:nvPr/>
        </p:nvSpPr>
        <p:spPr>
          <a:xfrm>
            <a:off x="8258175" y="229743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56" name="Google Shape;456;p29"/>
          <p:cNvSpPr/>
          <p:nvPr/>
        </p:nvSpPr>
        <p:spPr>
          <a:xfrm>
            <a:off x="314325" y="274320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College Dr</a:t>
            </a:r>
            <a:endParaRPr sz="800"/>
          </a:p>
        </p:txBody>
      </p:sp>
      <p:sp>
        <p:nvSpPr>
          <p:cNvPr id="457" name="Google Shape;457;p29"/>
          <p:cNvSpPr/>
          <p:nvPr/>
        </p:nvSpPr>
        <p:spPr>
          <a:xfrm>
            <a:off x="1114425" y="274320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Kristine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58" name="Google Shape;458;p29"/>
          <p:cNvSpPr/>
          <p:nvPr/>
        </p:nvSpPr>
        <p:spPr>
          <a:xfrm>
            <a:off x="1971675" y="274320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Sidnell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59" name="Google Shape;459;p29"/>
          <p:cNvSpPr/>
          <p:nvPr/>
        </p:nvSpPr>
        <p:spPr>
          <a:xfrm>
            <a:off x="5686425" y="2743200"/>
            <a:ext cx="1600200" cy="4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Looking for TD, HD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000625" y="274320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/>
          </a:p>
        </p:txBody>
      </p:sp>
      <p:sp>
        <p:nvSpPr>
          <p:cNvPr id="461" name="Google Shape;461;p29"/>
          <p:cNvSpPr/>
          <p:nvPr/>
        </p:nvSpPr>
        <p:spPr>
          <a:xfrm>
            <a:off x="7286625" y="274320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Kristine / Star</a:t>
            </a:r>
            <a:endParaRPr sz="800"/>
          </a:p>
        </p:txBody>
      </p:sp>
      <p:sp>
        <p:nvSpPr>
          <p:cNvPr id="462" name="Google Shape;462;p29"/>
          <p:cNvSpPr/>
          <p:nvPr/>
        </p:nvSpPr>
        <p:spPr>
          <a:xfrm>
            <a:off x="8258175" y="274320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63" name="Google Shape;463;p29"/>
          <p:cNvSpPr/>
          <p:nvPr/>
        </p:nvSpPr>
        <p:spPr>
          <a:xfrm>
            <a:off x="314325" y="318897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endParaRPr sz="800"/>
          </a:p>
        </p:txBody>
      </p:sp>
      <p:sp>
        <p:nvSpPr>
          <p:cNvPr id="464" name="Google Shape;464;p29"/>
          <p:cNvSpPr/>
          <p:nvPr/>
        </p:nvSpPr>
        <p:spPr>
          <a:xfrm>
            <a:off x="1114425" y="318897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Raynesha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b="1" sz="700">
              <a:solidFill>
                <a:srgbClr val="7F2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1971675" y="318897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Kristine Cabasa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66" name="Google Shape;466;p29"/>
          <p:cNvSpPr/>
          <p:nvPr/>
        </p:nvSpPr>
        <p:spPr>
          <a:xfrm>
            <a:off x="2943225" y="3188970"/>
            <a:ext cx="13144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Makayla Y- QD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Tony R- DT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Derrick- TD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800"/>
          </a:p>
        </p:txBody>
      </p:sp>
      <p:sp>
        <p:nvSpPr>
          <p:cNvPr id="467" name="Google Shape;467;p29"/>
          <p:cNvSpPr/>
          <p:nvPr/>
        </p:nvSpPr>
        <p:spPr>
          <a:xfrm>
            <a:off x="4257675" y="318897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2/4</a:t>
            </a:r>
            <a:endParaRPr sz="800"/>
          </a:p>
        </p:txBody>
      </p:sp>
      <p:sp>
        <p:nvSpPr>
          <p:cNvPr id="468" name="Google Shape;468;p29"/>
          <p:cNvSpPr/>
          <p:nvPr/>
        </p:nvSpPr>
        <p:spPr>
          <a:xfrm>
            <a:off x="5000625" y="318897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/>
          </a:p>
        </p:txBody>
      </p:sp>
      <p:sp>
        <p:nvSpPr>
          <p:cNvPr id="469" name="Google Shape;469;p29"/>
          <p:cNvSpPr/>
          <p:nvPr/>
        </p:nvSpPr>
        <p:spPr>
          <a:xfrm>
            <a:off x="5669275" y="3188957"/>
            <a:ext cx="1600200" cy="4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2 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Director and </a:t>
            </a: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Shift Leads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258175" y="318897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71" name="Google Shape;471;p29"/>
          <p:cNvSpPr/>
          <p:nvPr/>
        </p:nvSpPr>
        <p:spPr>
          <a:xfrm>
            <a:off x="314325" y="363474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Hillcrest</a:t>
            </a:r>
            <a:endParaRPr sz="800"/>
          </a:p>
        </p:txBody>
      </p:sp>
      <p:sp>
        <p:nvSpPr>
          <p:cNvPr id="472" name="Google Shape;472;p29"/>
          <p:cNvSpPr/>
          <p:nvPr/>
        </p:nvSpPr>
        <p:spPr>
          <a:xfrm>
            <a:off x="1114425" y="363474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Kelly Rogers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73" name="Google Shape;473;p29"/>
          <p:cNvSpPr/>
          <p:nvPr/>
        </p:nvSpPr>
        <p:spPr>
          <a:xfrm>
            <a:off x="1971675" y="363474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Jonathan Pinchbeck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4257675" y="363474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/>
          </a:p>
        </p:txBody>
      </p:sp>
      <p:sp>
        <p:nvSpPr>
          <p:cNvPr id="475" name="Google Shape;475;p29"/>
          <p:cNvSpPr/>
          <p:nvPr/>
        </p:nvSpPr>
        <p:spPr>
          <a:xfrm>
            <a:off x="5000625" y="363474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/>
          </a:p>
        </p:txBody>
      </p:sp>
      <p:sp>
        <p:nvSpPr>
          <p:cNvPr id="476" name="Google Shape;476;p29"/>
          <p:cNvSpPr/>
          <p:nvPr/>
        </p:nvSpPr>
        <p:spPr>
          <a:xfrm>
            <a:off x="7286625" y="363474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Kelly / Chris</a:t>
            </a:r>
            <a:endParaRPr sz="800"/>
          </a:p>
        </p:txBody>
      </p:sp>
      <p:sp>
        <p:nvSpPr>
          <p:cNvPr id="477" name="Google Shape;477;p29"/>
          <p:cNvSpPr/>
          <p:nvPr/>
        </p:nvSpPr>
        <p:spPr>
          <a:xfrm>
            <a:off x="5686425" y="3634740"/>
            <a:ext cx="16002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 1 Shift Leads , 1 Director</a:t>
            </a:r>
            <a:endParaRPr sz="7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8258175" y="363474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79" name="Google Shape;479;p29"/>
          <p:cNvSpPr/>
          <p:nvPr/>
        </p:nvSpPr>
        <p:spPr>
          <a:xfrm>
            <a:off x="314325" y="4080510"/>
            <a:ext cx="8001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VA Beach</a:t>
            </a:r>
            <a:endParaRPr sz="800"/>
          </a:p>
        </p:txBody>
      </p:sp>
      <p:sp>
        <p:nvSpPr>
          <p:cNvPr id="480" name="Google Shape;480;p29"/>
          <p:cNvSpPr/>
          <p:nvPr/>
        </p:nvSpPr>
        <p:spPr>
          <a:xfrm>
            <a:off x="1114425" y="4080510"/>
            <a:ext cx="8572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Eddie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81" name="Google Shape;481;p29"/>
          <p:cNvSpPr/>
          <p:nvPr/>
        </p:nvSpPr>
        <p:spPr>
          <a:xfrm>
            <a:off x="1971675" y="408051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Will M</a:t>
            </a:r>
            <a:endParaRPr sz="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 sz="800"/>
          </a:p>
        </p:txBody>
      </p:sp>
      <p:sp>
        <p:nvSpPr>
          <p:cNvPr id="482" name="Google Shape;482;p29"/>
          <p:cNvSpPr/>
          <p:nvPr/>
        </p:nvSpPr>
        <p:spPr>
          <a:xfrm>
            <a:off x="2943225" y="4080510"/>
            <a:ext cx="1314600" cy="44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Jackie- TD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Chaz- QD</a:t>
            </a:r>
            <a:endParaRPr sz="600">
              <a:solidFill>
                <a:srgbClr val="1818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lang="en" sz="6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/4</a:t>
            </a:r>
            <a:endParaRPr sz="700"/>
          </a:p>
        </p:txBody>
      </p:sp>
      <p:sp>
        <p:nvSpPr>
          <p:cNvPr id="483" name="Google Shape;483;p29"/>
          <p:cNvSpPr/>
          <p:nvPr/>
        </p:nvSpPr>
        <p:spPr>
          <a:xfrm>
            <a:off x="4257675" y="4080510"/>
            <a:ext cx="7429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/>
          </a:p>
        </p:txBody>
      </p:sp>
      <p:sp>
        <p:nvSpPr>
          <p:cNvPr id="484" name="Google Shape;484;p29"/>
          <p:cNvSpPr/>
          <p:nvPr/>
        </p:nvSpPr>
        <p:spPr>
          <a:xfrm>
            <a:off x="5000625" y="4080510"/>
            <a:ext cx="6858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/>
          </a:p>
        </p:txBody>
      </p:sp>
      <p:sp>
        <p:nvSpPr>
          <p:cNvPr id="485" name="Google Shape;485;p29"/>
          <p:cNvSpPr/>
          <p:nvPr/>
        </p:nvSpPr>
        <p:spPr>
          <a:xfrm>
            <a:off x="7286625" y="4080510"/>
            <a:ext cx="97155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Eddie / Chris</a:t>
            </a:r>
            <a:endParaRPr sz="800"/>
          </a:p>
        </p:txBody>
      </p:sp>
      <p:sp>
        <p:nvSpPr>
          <p:cNvPr id="486" name="Google Shape;486;p29"/>
          <p:cNvSpPr/>
          <p:nvPr/>
        </p:nvSpPr>
        <p:spPr>
          <a:xfrm>
            <a:off x="8258175" y="4080510"/>
            <a:ext cx="571500" cy="4457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Set today</a:t>
            </a:r>
            <a:endParaRPr sz="800"/>
          </a:p>
        </p:txBody>
      </p:sp>
      <p:sp>
        <p:nvSpPr>
          <p:cNvPr id="487" name="Google Shape;487;p29"/>
          <p:cNvSpPr/>
          <p:nvPr/>
        </p:nvSpPr>
        <p:spPr>
          <a:xfrm>
            <a:off x="5669280" y="971550"/>
            <a:ext cx="34290" cy="355473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1200150" y="4709160"/>
            <a:ext cx="6743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Meeting prompt: Who is the next named hire or promotion, what happens this week, and by when?</a:t>
            </a:r>
            <a:endParaRPr sz="800"/>
          </a:p>
        </p:txBody>
      </p:sp>
      <p:sp>
        <p:nvSpPr>
          <p:cNvPr id="489" name="Google Shape;489;p29"/>
          <p:cNvSpPr/>
          <p:nvPr/>
        </p:nvSpPr>
        <p:spPr>
          <a:xfrm>
            <a:off x="6343650" y="4960620"/>
            <a:ext cx="2457450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54850" spcFirstLastPara="1" rIns="54850" wrap="square" tIns="27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© 2026 Hudson Restaurant Group  |  Proprietary &amp; Confidential</a:t>
            </a: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8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0"/>
          <p:cNvSpPr/>
          <p:nvPr/>
        </p:nvSpPr>
        <p:spPr>
          <a:xfrm>
            <a:off x="0" y="0"/>
            <a:ext cx="9143771" cy="747522"/>
          </a:xfrm>
          <a:prstGeom prst="rect">
            <a:avLst/>
          </a:prstGeom>
          <a:solidFill>
            <a:srgbClr val="172838"/>
          </a:solidFill>
          <a:ln cap="flat" cmpd="sng" w="12700">
            <a:solidFill>
              <a:srgbClr val="172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0" y="747522"/>
            <a:ext cx="9143771" cy="44577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342900" y="109728"/>
            <a:ext cx="6172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8C8D4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7200900" y="109728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OCT 12–18,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342900" y="315468"/>
            <a:ext cx="668655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MAEGAN  /  NORTH TENNESSEE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0"/>
          <p:cNvSpPr/>
          <p:nvPr/>
        </p:nvSpPr>
        <p:spPr>
          <a:xfrm>
            <a:off x="6940296" y="425196"/>
            <a:ext cx="18653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3 RESTAURANTS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342900" y="4924044"/>
            <a:ext cx="8455914" cy="8230"/>
          </a:xfrm>
          <a:prstGeom prst="rect">
            <a:avLst/>
          </a:prstGeom>
          <a:solidFill>
            <a:srgbClr val="E0E7EC"/>
          </a:solidFill>
          <a:ln cap="flat" cmpd="sng" w="12700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0"/>
          <p:cNvSpPr/>
          <p:nvPr/>
        </p:nvSpPr>
        <p:spPr>
          <a:xfrm>
            <a:off x="356616" y="4958334"/>
            <a:ext cx="795528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SOURCE: Zaxby’s ReportHub • WTD through Sunday 10/18/2026  |  Prior week 10/5–10/11/2026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8250174" y="4951476"/>
            <a:ext cx="534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01 / 0</a:t>
            </a:r>
            <a:r>
              <a:rPr lang="en" sz="700">
                <a:solidFill>
                  <a:srgbClr val="67788B"/>
                </a:solidFill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34290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/>
          <p:nvPr/>
        </p:nvSpPr>
        <p:spPr>
          <a:xfrm>
            <a:off x="34290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49377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49377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$200.2K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224942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260604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21671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0"/>
          <p:cNvSpPr/>
          <p:nvPr/>
        </p:nvSpPr>
        <p:spPr>
          <a:xfrm>
            <a:off x="21671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-10.9%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257860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257860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-5.7%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49377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WoW: all stores  •  YoY: legacy stores only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322326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0"/>
          <p:cNvSpPr/>
          <p:nvPr/>
        </p:nvSpPr>
        <p:spPr>
          <a:xfrm>
            <a:off x="322326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0"/>
          <p:cNvSpPr/>
          <p:nvPr/>
        </p:nvSpPr>
        <p:spPr>
          <a:xfrm>
            <a:off x="337413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337413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11,300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512978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/>
          <p:nvPr/>
        </p:nvSpPr>
        <p:spPr>
          <a:xfrm>
            <a:off x="548640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504748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0"/>
          <p:cNvSpPr/>
          <p:nvPr/>
        </p:nvSpPr>
        <p:spPr>
          <a:xfrm>
            <a:off x="504748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-8.2%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545896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545896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-5.4%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/>
          <p:nvPr/>
        </p:nvSpPr>
        <p:spPr>
          <a:xfrm>
            <a:off x="337413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WoW: all stores  •  YoY: legacy stores only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610362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610362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625449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625449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$17.72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801014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836676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792784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792784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-2.9%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83393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"/>
          <p:cNvSpPr/>
          <p:nvPr/>
        </p:nvSpPr>
        <p:spPr>
          <a:xfrm>
            <a:off x="83393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-0.3%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625449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WoW: all stores  •  YoY: legacy stores only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411480" y="1885950"/>
            <a:ext cx="14058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B4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1927098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1927098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4217670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0"/>
          <p:cNvSpPr/>
          <p:nvPr/>
        </p:nvSpPr>
        <p:spPr>
          <a:xfrm>
            <a:off x="4217670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6501384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6501384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198882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2935224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3531870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/>
          <p:nvPr/>
        </p:nvSpPr>
        <p:spPr>
          <a:xfrm>
            <a:off x="428625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5225796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0"/>
          <p:cNvSpPr/>
          <p:nvPr/>
        </p:nvSpPr>
        <p:spPr>
          <a:xfrm>
            <a:off x="5822442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6569964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7509510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0"/>
          <p:cNvSpPr/>
          <p:nvPr/>
        </p:nvSpPr>
        <p:spPr>
          <a:xfrm>
            <a:off x="8106156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/>
          <p:nvPr/>
        </p:nvSpPr>
        <p:spPr>
          <a:xfrm>
            <a:off x="342900" y="2338578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438912" y="2366010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Portland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0"/>
          <p:cNvSpPr/>
          <p:nvPr/>
        </p:nvSpPr>
        <p:spPr>
          <a:xfrm>
            <a:off x="2002536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$77.9K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0"/>
          <p:cNvSpPr/>
          <p:nvPr/>
        </p:nvSpPr>
        <p:spPr>
          <a:xfrm>
            <a:off x="290093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0"/>
          <p:cNvSpPr/>
          <p:nvPr/>
        </p:nvSpPr>
        <p:spPr>
          <a:xfrm>
            <a:off x="290093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-19.9%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0"/>
          <p:cNvSpPr/>
          <p:nvPr/>
        </p:nvSpPr>
        <p:spPr>
          <a:xfrm>
            <a:off x="3504438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EEF3"/>
          </a:solidFill>
          <a:ln cap="flat" cmpd="sng" w="12700">
            <a:solidFill>
              <a:srgbClr val="E7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0"/>
          <p:cNvSpPr/>
          <p:nvPr/>
        </p:nvSpPr>
        <p:spPr>
          <a:xfrm>
            <a:off x="3504438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88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B7884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4293108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4,165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5191506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0"/>
          <p:cNvSpPr/>
          <p:nvPr/>
        </p:nvSpPr>
        <p:spPr>
          <a:xfrm>
            <a:off x="5191506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-15.1%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579501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EEF3"/>
          </a:solidFill>
          <a:ln cap="flat" cmpd="sng" w="12700">
            <a:solidFill>
              <a:srgbClr val="E7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0"/>
          <p:cNvSpPr/>
          <p:nvPr/>
        </p:nvSpPr>
        <p:spPr>
          <a:xfrm>
            <a:off x="579501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88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B7884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6576822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$18.69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747522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747522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807872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EEF3"/>
          </a:solidFill>
          <a:ln cap="flat" cmpd="sng" w="12700">
            <a:solidFill>
              <a:srgbClr val="E7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807872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88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B7884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342900" y="2722626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438912" y="2750058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Springfield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2002536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$59.8K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290093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290093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0"/>
          <p:cNvSpPr/>
          <p:nvPr/>
        </p:nvSpPr>
        <p:spPr>
          <a:xfrm>
            <a:off x="3504438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3504438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4293108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3,386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5191506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5191506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-6.1%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579501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579501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6576822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747522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747522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807872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0"/>
          <p:cNvSpPr/>
          <p:nvPr/>
        </p:nvSpPr>
        <p:spPr>
          <a:xfrm>
            <a:off x="807872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342900" y="3106674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438912" y="3134106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White 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2002536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$62.6K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290093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290093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3504438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3504438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-9.4%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4293108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3,749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5191506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5191506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579501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579501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-8.7%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6576822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$16.69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747522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747522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807872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807872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342900" y="3490722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DEE8EE"/>
          </a:solidFill>
          <a:ln cap="flat" cmpd="sng" w="9525">
            <a:solidFill>
              <a:srgbClr val="C4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342900" y="3490722"/>
            <a:ext cx="39776" cy="342900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438912" y="3518154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DISTRICT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2002536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$200.2K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290093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290093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-10.9%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3504438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3504438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4293108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11,300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5191506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5191506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-8.2%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579501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579501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6576822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$17.72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747522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"/>
          <p:cNvSpPr/>
          <p:nvPr/>
        </p:nvSpPr>
        <p:spPr>
          <a:xfrm>
            <a:off x="747522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807872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807872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342900" y="4334256"/>
            <a:ext cx="8449056" cy="425196"/>
          </a:xfrm>
          <a:prstGeom prst="roundRect">
            <a:avLst>
              <a:gd fmla="val 9677" name="adj"/>
            </a:avLst>
          </a:prstGeom>
          <a:solidFill>
            <a:srgbClr val="E8EFF4"/>
          </a:solidFill>
          <a:ln cap="flat" cmpd="sng" w="9525">
            <a:solidFill>
              <a:srgbClr val="D5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342900" y="4334256"/>
            <a:ext cx="41148" cy="425196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473202" y="4416552"/>
            <a:ext cx="7200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473202" y="4533138"/>
            <a:ext cx="8174736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PORTLAND SALES −19.9% WoW AND TRAFFIC −15.1%  •  FULL DISTRICT SALES −10.9% WoW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8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1"/>
          <p:cNvSpPr/>
          <p:nvPr/>
        </p:nvSpPr>
        <p:spPr>
          <a:xfrm>
            <a:off x="0" y="0"/>
            <a:ext cx="9143771" cy="747522"/>
          </a:xfrm>
          <a:prstGeom prst="rect">
            <a:avLst/>
          </a:prstGeom>
          <a:solidFill>
            <a:srgbClr val="172838"/>
          </a:solidFill>
          <a:ln cap="flat" cmpd="sng" w="12700">
            <a:solidFill>
              <a:srgbClr val="172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0" y="747522"/>
            <a:ext cx="9143771" cy="44577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342900" y="109728"/>
            <a:ext cx="6172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8C8D4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7200900" y="109728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OCT 12–18,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342900" y="315468"/>
            <a:ext cx="668655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TOMMY  /  SOUTH TENNESSEE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6940296" y="425196"/>
            <a:ext cx="18653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3 RESTAURANTS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342900" y="4924044"/>
            <a:ext cx="8455914" cy="8230"/>
          </a:xfrm>
          <a:prstGeom prst="rect">
            <a:avLst/>
          </a:prstGeom>
          <a:solidFill>
            <a:srgbClr val="E0E7EC"/>
          </a:solidFill>
          <a:ln cap="flat" cmpd="sng" w="12700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356616" y="4958334"/>
            <a:ext cx="795528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SOURCE: Zaxby’s ReportHub • WTD through Sunday 10/18/2026  |  Prior week 10/5–10/11/2026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8250174" y="4951476"/>
            <a:ext cx="534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02 / 0</a:t>
            </a:r>
            <a:r>
              <a:rPr lang="en" sz="700">
                <a:solidFill>
                  <a:srgbClr val="67788B"/>
                </a:solidFill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34290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1"/>
          <p:cNvSpPr/>
          <p:nvPr/>
        </p:nvSpPr>
        <p:spPr>
          <a:xfrm>
            <a:off x="34290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49377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49377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$162.3K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1"/>
          <p:cNvSpPr/>
          <p:nvPr/>
        </p:nvSpPr>
        <p:spPr>
          <a:xfrm>
            <a:off x="224942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260604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21671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21671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-0.6%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257860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1"/>
          <p:cNvSpPr/>
          <p:nvPr/>
        </p:nvSpPr>
        <p:spPr>
          <a:xfrm>
            <a:off x="257860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-12.9%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49377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322326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1"/>
          <p:cNvSpPr/>
          <p:nvPr/>
        </p:nvSpPr>
        <p:spPr>
          <a:xfrm>
            <a:off x="322326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1"/>
          <p:cNvSpPr/>
          <p:nvPr/>
        </p:nvSpPr>
        <p:spPr>
          <a:xfrm>
            <a:off x="337413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1"/>
          <p:cNvSpPr/>
          <p:nvPr/>
        </p:nvSpPr>
        <p:spPr>
          <a:xfrm>
            <a:off x="337413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9,421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512978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548640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504748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1"/>
          <p:cNvSpPr/>
          <p:nvPr/>
        </p:nvSpPr>
        <p:spPr>
          <a:xfrm>
            <a:off x="504748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+0.6%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545896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1"/>
          <p:cNvSpPr/>
          <p:nvPr/>
        </p:nvSpPr>
        <p:spPr>
          <a:xfrm>
            <a:off x="545896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-14.8%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337413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610362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1"/>
          <p:cNvSpPr/>
          <p:nvPr/>
        </p:nvSpPr>
        <p:spPr>
          <a:xfrm>
            <a:off x="610362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625449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625449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801014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836676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792784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792784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83393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"/>
          <p:cNvSpPr/>
          <p:nvPr/>
        </p:nvSpPr>
        <p:spPr>
          <a:xfrm>
            <a:off x="83393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+2.2%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625449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411480" y="1885950"/>
            <a:ext cx="14058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B4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1927098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1"/>
          <p:cNvSpPr/>
          <p:nvPr/>
        </p:nvSpPr>
        <p:spPr>
          <a:xfrm>
            <a:off x="1927098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4217670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1"/>
          <p:cNvSpPr/>
          <p:nvPr/>
        </p:nvSpPr>
        <p:spPr>
          <a:xfrm>
            <a:off x="4217670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1"/>
          <p:cNvSpPr/>
          <p:nvPr/>
        </p:nvSpPr>
        <p:spPr>
          <a:xfrm>
            <a:off x="6501384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6501384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198882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2935224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3531870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428625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5225796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5822442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6569964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7509510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8106156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342900" y="2338578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>
            <a:off x="438912" y="2366010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Brentwood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2002536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$25.9K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290093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1"/>
          <p:cNvSpPr/>
          <p:nvPr/>
        </p:nvSpPr>
        <p:spPr>
          <a:xfrm>
            <a:off x="290093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-9.0%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3504438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1"/>
          <p:cNvSpPr/>
          <p:nvPr/>
        </p:nvSpPr>
        <p:spPr>
          <a:xfrm>
            <a:off x="3504438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4293108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1,537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5191506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5191506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579501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579501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-5.1%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6576822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$16.84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747522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"/>
          <p:cNvSpPr/>
          <p:nvPr/>
        </p:nvSpPr>
        <p:spPr>
          <a:xfrm>
            <a:off x="747522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-3.5%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807872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807872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342900" y="2722626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1"/>
          <p:cNvSpPr/>
          <p:nvPr/>
        </p:nvSpPr>
        <p:spPr>
          <a:xfrm>
            <a:off x="438912" y="2750058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Columbia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2002536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$71.9K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290093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290093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3504438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3504438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-22.6%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4293108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4,180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5191506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5191506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+3.6%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579501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579501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-23.0%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6576822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747522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1"/>
          <p:cNvSpPr/>
          <p:nvPr/>
        </p:nvSpPr>
        <p:spPr>
          <a:xfrm>
            <a:off x="747522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807872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807872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342900" y="3106674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438912" y="3134106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Spring Hill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2002536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$64.5K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290093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290093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/>
          <p:nvPr/>
        </p:nvSpPr>
        <p:spPr>
          <a:xfrm>
            <a:off x="3504438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3504438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-3.6%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4293108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3,704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5191506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1"/>
          <p:cNvSpPr/>
          <p:nvPr/>
        </p:nvSpPr>
        <p:spPr>
          <a:xfrm>
            <a:off x="5191506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/>
          <p:nvPr/>
        </p:nvSpPr>
        <p:spPr>
          <a:xfrm>
            <a:off x="579501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9501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-7.6%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6576822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$17.41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747522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1"/>
          <p:cNvSpPr/>
          <p:nvPr/>
        </p:nvSpPr>
        <p:spPr>
          <a:xfrm>
            <a:off x="747522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/>
          <p:nvPr/>
        </p:nvSpPr>
        <p:spPr>
          <a:xfrm>
            <a:off x="807872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807872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+4.4%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342900" y="3490722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DEE8EE"/>
          </a:solidFill>
          <a:ln cap="flat" cmpd="sng" w="9525">
            <a:solidFill>
              <a:srgbClr val="C4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342900" y="3490722"/>
            <a:ext cx="39776" cy="342900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438912" y="3518154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DISTRICT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2002536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$162.3K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1"/>
          <p:cNvSpPr/>
          <p:nvPr/>
        </p:nvSpPr>
        <p:spPr>
          <a:xfrm>
            <a:off x="290093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290093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3504438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/>
          <p:nvPr/>
        </p:nvSpPr>
        <p:spPr>
          <a:xfrm>
            <a:off x="3504438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-12.9%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4293108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9,421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5191506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5191506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579501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579501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-14.8%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/>
          <p:nvPr/>
        </p:nvSpPr>
        <p:spPr>
          <a:xfrm>
            <a:off x="6576822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747522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>
            <a:off x="747522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807872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/>
          <p:nvPr/>
        </p:nvSpPr>
        <p:spPr>
          <a:xfrm>
            <a:off x="807872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342900" y="4334256"/>
            <a:ext cx="8449056" cy="425196"/>
          </a:xfrm>
          <a:prstGeom prst="roundRect">
            <a:avLst>
              <a:gd fmla="val 9677" name="adj"/>
            </a:avLst>
          </a:prstGeom>
          <a:solidFill>
            <a:srgbClr val="E8EFF4"/>
          </a:solidFill>
          <a:ln cap="flat" cmpd="sng" w="9525">
            <a:solidFill>
              <a:srgbClr val="D5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1"/>
          <p:cNvSpPr/>
          <p:nvPr/>
        </p:nvSpPr>
        <p:spPr>
          <a:xfrm>
            <a:off x="342900" y="4334256"/>
            <a:ext cx="41148" cy="425196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1"/>
          <p:cNvSpPr/>
          <p:nvPr/>
        </p:nvSpPr>
        <p:spPr>
          <a:xfrm>
            <a:off x="473202" y="4416552"/>
            <a:ext cx="7200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473202" y="4533138"/>
            <a:ext cx="8174736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COLUMBIA IS THE BIGGEST DRAG  •  SALES −22.6% YoY, DESPITE A +1.6% WEEK-OVER-WEEK REBOUND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8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2"/>
          <p:cNvSpPr/>
          <p:nvPr/>
        </p:nvSpPr>
        <p:spPr>
          <a:xfrm>
            <a:off x="0" y="0"/>
            <a:ext cx="9143771" cy="747522"/>
          </a:xfrm>
          <a:prstGeom prst="rect">
            <a:avLst/>
          </a:prstGeom>
          <a:solidFill>
            <a:srgbClr val="172838"/>
          </a:solidFill>
          <a:ln cap="flat" cmpd="sng" w="12700">
            <a:solidFill>
              <a:srgbClr val="172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0" y="747522"/>
            <a:ext cx="9143771" cy="44577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342900" y="109728"/>
            <a:ext cx="6172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8C8D4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7200900" y="109728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OCT 12–18,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342900" y="315468"/>
            <a:ext cx="668655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  /  VIRGINIA | PENINSULA + SUFFOLK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0296" y="425196"/>
            <a:ext cx="18653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4 RESTAURANTS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342900" y="4924044"/>
            <a:ext cx="8455914" cy="8230"/>
          </a:xfrm>
          <a:prstGeom prst="rect">
            <a:avLst/>
          </a:prstGeom>
          <a:solidFill>
            <a:srgbClr val="E0E7EC"/>
          </a:solidFill>
          <a:ln cap="flat" cmpd="sng" w="12700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356616" y="4958334"/>
            <a:ext cx="795528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SOURCE: Zaxby’s ReportHub • WTD through Sunday 10/18/2026  |  Prior week 10/5–10/11/2026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8250174" y="4951476"/>
            <a:ext cx="534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03 / 0</a:t>
            </a:r>
            <a:r>
              <a:rPr lang="en" sz="700">
                <a:solidFill>
                  <a:srgbClr val="67788B"/>
                </a:solidFill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34290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34290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2"/>
          <p:cNvSpPr/>
          <p:nvPr/>
        </p:nvSpPr>
        <p:spPr>
          <a:xfrm>
            <a:off x="49377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9377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$207.1K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224942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260604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21671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2"/>
          <p:cNvSpPr/>
          <p:nvPr/>
        </p:nvSpPr>
        <p:spPr>
          <a:xfrm>
            <a:off x="21671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+4.5%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/>
          <p:nvPr/>
        </p:nvSpPr>
        <p:spPr>
          <a:xfrm>
            <a:off x="257860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257860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+3.2%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49377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/>
          <p:nvPr/>
        </p:nvSpPr>
        <p:spPr>
          <a:xfrm>
            <a:off x="322326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322326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2"/>
          <p:cNvSpPr/>
          <p:nvPr/>
        </p:nvSpPr>
        <p:spPr>
          <a:xfrm>
            <a:off x="337413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337413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11,563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2"/>
          <p:cNvSpPr/>
          <p:nvPr/>
        </p:nvSpPr>
        <p:spPr>
          <a:xfrm>
            <a:off x="512978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548640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/>
          <p:nvPr/>
        </p:nvSpPr>
        <p:spPr>
          <a:xfrm>
            <a:off x="504748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504748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+2.9%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545896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545896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+1.8%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337413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610362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2"/>
          <p:cNvSpPr/>
          <p:nvPr/>
        </p:nvSpPr>
        <p:spPr>
          <a:xfrm>
            <a:off x="610362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2"/>
          <p:cNvSpPr/>
          <p:nvPr/>
        </p:nvSpPr>
        <p:spPr>
          <a:xfrm>
            <a:off x="625449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2"/>
          <p:cNvSpPr/>
          <p:nvPr/>
        </p:nvSpPr>
        <p:spPr>
          <a:xfrm>
            <a:off x="625449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$17.91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2"/>
          <p:cNvSpPr/>
          <p:nvPr/>
        </p:nvSpPr>
        <p:spPr>
          <a:xfrm>
            <a:off x="801014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2"/>
          <p:cNvSpPr/>
          <p:nvPr/>
        </p:nvSpPr>
        <p:spPr>
          <a:xfrm>
            <a:off x="836676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2"/>
          <p:cNvSpPr/>
          <p:nvPr/>
        </p:nvSpPr>
        <p:spPr>
          <a:xfrm>
            <a:off x="792784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792784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+1.6%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2"/>
          <p:cNvSpPr/>
          <p:nvPr/>
        </p:nvSpPr>
        <p:spPr>
          <a:xfrm>
            <a:off x="83393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83393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+1.4%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2"/>
          <p:cNvSpPr/>
          <p:nvPr/>
        </p:nvSpPr>
        <p:spPr>
          <a:xfrm>
            <a:off x="625449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2"/>
          <p:cNvSpPr/>
          <p:nvPr/>
        </p:nvSpPr>
        <p:spPr>
          <a:xfrm>
            <a:off x="411480" y="1885950"/>
            <a:ext cx="14058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B4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1927098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1927098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4217670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>
            <a:off x="4217670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2"/>
          <p:cNvSpPr/>
          <p:nvPr/>
        </p:nvSpPr>
        <p:spPr>
          <a:xfrm>
            <a:off x="6501384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6501384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198882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2"/>
          <p:cNvSpPr/>
          <p:nvPr/>
        </p:nvSpPr>
        <p:spPr>
          <a:xfrm>
            <a:off x="2935224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2"/>
          <p:cNvSpPr/>
          <p:nvPr/>
        </p:nvSpPr>
        <p:spPr>
          <a:xfrm>
            <a:off x="3531870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/>
          <p:nvPr/>
        </p:nvSpPr>
        <p:spPr>
          <a:xfrm>
            <a:off x="428625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5225796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5822442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6569964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2"/>
          <p:cNvSpPr/>
          <p:nvPr/>
        </p:nvSpPr>
        <p:spPr>
          <a:xfrm>
            <a:off x="7509510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8106156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342900" y="2338578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2"/>
          <p:cNvSpPr/>
          <p:nvPr/>
        </p:nvSpPr>
        <p:spPr>
          <a:xfrm>
            <a:off x="438912" y="2366010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Jefferson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2002536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$36.9K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290093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290093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+4.7%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3504438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2"/>
          <p:cNvSpPr/>
          <p:nvPr/>
        </p:nvSpPr>
        <p:spPr>
          <a:xfrm>
            <a:off x="3504438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-4.6%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4293108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2,054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5191506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5191506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579501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2"/>
          <p:cNvSpPr/>
          <p:nvPr/>
        </p:nvSpPr>
        <p:spPr>
          <a:xfrm>
            <a:off x="579501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-8.4%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6576822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$17.95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747522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2"/>
          <p:cNvSpPr/>
          <p:nvPr/>
        </p:nvSpPr>
        <p:spPr>
          <a:xfrm>
            <a:off x="747522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807872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2"/>
          <p:cNvSpPr/>
          <p:nvPr/>
        </p:nvSpPr>
        <p:spPr>
          <a:xfrm>
            <a:off x="807872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+4.2%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342900" y="2722626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/>
          <p:nvPr/>
        </p:nvSpPr>
        <p:spPr>
          <a:xfrm>
            <a:off x="438912" y="2750058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Oyster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2"/>
          <p:cNvSpPr/>
          <p:nvPr/>
        </p:nvSpPr>
        <p:spPr>
          <a:xfrm>
            <a:off x="2002536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$38.6K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2"/>
          <p:cNvSpPr/>
          <p:nvPr/>
        </p:nvSpPr>
        <p:spPr>
          <a:xfrm>
            <a:off x="290093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2"/>
          <p:cNvSpPr/>
          <p:nvPr/>
        </p:nvSpPr>
        <p:spPr>
          <a:xfrm>
            <a:off x="290093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+6.7%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/>
          <p:nvPr/>
        </p:nvSpPr>
        <p:spPr>
          <a:xfrm>
            <a:off x="3504438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2"/>
          <p:cNvSpPr/>
          <p:nvPr/>
        </p:nvSpPr>
        <p:spPr>
          <a:xfrm>
            <a:off x="3504438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2"/>
          <p:cNvSpPr/>
          <p:nvPr/>
        </p:nvSpPr>
        <p:spPr>
          <a:xfrm>
            <a:off x="4293108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2,162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5191506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2"/>
          <p:cNvSpPr/>
          <p:nvPr/>
        </p:nvSpPr>
        <p:spPr>
          <a:xfrm>
            <a:off x="5191506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+5.3%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2"/>
          <p:cNvSpPr/>
          <p:nvPr/>
        </p:nvSpPr>
        <p:spPr>
          <a:xfrm>
            <a:off x="579501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2"/>
          <p:cNvSpPr/>
          <p:nvPr/>
        </p:nvSpPr>
        <p:spPr>
          <a:xfrm>
            <a:off x="579501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6576822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$17.86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747522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2"/>
          <p:cNvSpPr/>
          <p:nvPr/>
        </p:nvSpPr>
        <p:spPr>
          <a:xfrm>
            <a:off x="747522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2"/>
          <p:cNvSpPr/>
          <p:nvPr/>
        </p:nvSpPr>
        <p:spPr>
          <a:xfrm>
            <a:off x="807872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2"/>
          <p:cNvSpPr/>
          <p:nvPr/>
        </p:nvSpPr>
        <p:spPr>
          <a:xfrm>
            <a:off x="807872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+3.3%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2"/>
          <p:cNvSpPr/>
          <p:nvPr/>
        </p:nvSpPr>
        <p:spPr>
          <a:xfrm>
            <a:off x="342900" y="3106674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2"/>
          <p:cNvSpPr/>
          <p:nvPr/>
        </p:nvSpPr>
        <p:spPr>
          <a:xfrm>
            <a:off x="438912" y="3134106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Hampton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2"/>
          <p:cNvSpPr/>
          <p:nvPr/>
        </p:nvSpPr>
        <p:spPr>
          <a:xfrm>
            <a:off x="2002536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$79.1K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2"/>
          <p:cNvSpPr/>
          <p:nvPr/>
        </p:nvSpPr>
        <p:spPr>
          <a:xfrm>
            <a:off x="290093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2"/>
          <p:cNvSpPr/>
          <p:nvPr/>
        </p:nvSpPr>
        <p:spPr>
          <a:xfrm>
            <a:off x="290093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+6.9%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3504438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2"/>
          <p:cNvSpPr/>
          <p:nvPr/>
        </p:nvSpPr>
        <p:spPr>
          <a:xfrm>
            <a:off x="3504438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+12.2%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2"/>
          <p:cNvSpPr/>
          <p:nvPr/>
        </p:nvSpPr>
        <p:spPr>
          <a:xfrm>
            <a:off x="4293108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4,310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2"/>
          <p:cNvSpPr/>
          <p:nvPr/>
        </p:nvSpPr>
        <p:spPr>
          <a:xfrm>
            <a:off x="5191506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2"/>
          <p:cNvSpPr/>
          <p:nvPr/>
        </p:nvSpPr>
        <p:spPr>
          <a:xfrm>
            <a:off x="5191506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+5.0%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2"/>
          <p:cNvSpPr/>
          <p:nvPr/>
        </p:nvSpPr>
        <p:spPr>
          <a:xfrm>
            <a:off x="579501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2"/>
          <p:cNvSpPr/>
          <p:nvPr/>
        </p:nvSpPr>
        <p:spPr>
          <a:xfrm>
            <a:off x="579501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+11.1%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2"/>
          <p:cNvSpPr/>
          <p:nvPr/>
        </p:nvSpPr>
        <p:spPr>
          <a:xfrm>
            <a:off x="6576822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$18.36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2"/>
          <p:cNvSpPr/>
          <p:nvPr/>
        </p:nvSpPr>
        <p:spPr>
          <a:xfrm>
            <a:off x="747522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2"/>
          <p:cNvSpPr/>
          <p:nvPr/>
        </p:nvSpPr>
        <p:spPr>
          <a:xfrm>
            <a:off x="747522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2"/>
          <p:cNvSpPr/>
          <p:nvPr/>
        </p:nvSpPr>
        <p:spPr>
          <a:xfrm>
            <a:off x="807872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2"/>
          <p:cNvSpPr/>
          <p:nvPr/>
        </p:nvSpPr>
        <p:spPr>
          <a:xfrm>
            <a:off x="807872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342900" y="3490722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2"/>
          <p:cNvSpPr/>
          <p:nvPr/>
        </p:nvSpPr>
        <p:spPr>
          <a:xfrm>
            <a:off x="438912" y="3518154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College Drive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2"/>
          <p:cNvSpPr/>
          <p:nvPr/>
        </p:nvSpPr>
        <p:spPr>
          <a:xfrm>
            <a:off x="2002536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$52.5K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/>
          <p:nvPr/>
        </p:nvSpPr>
        <p:spPr>
          <a:xfrm>
            <a:off x="290093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2"/>
          <p:cNvSpPr/>
          <p:nvPr/>
        </p:nvSpPr>
        <p:spPr>
          <a:xfrm>
            <a:off x="290093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2"/>
          <p:cNvSpPr/>
          <p:nvPr/>
        </p:nvSpPr>
        <p:spPr>
          <a:xfrm>
            <a:off x="3504438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2"/>
          <p:cNvSpPr/>
          <p:nvPr/>
        </p:nvSpPr>
        <p:spPr>
          <a:xfrm>
            <a:off x="3504438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4293108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3,037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2"/>
          <p:cNvSpPr/>
          <p:nvPr/>
        </p:nvSpPr>
        <p:spPr>
          <a:xfrm>
            <a:off x="5191506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2"/>
          <p:cNvSpPr/>
          <p:nvPr/>
        </p:nvSpPr>
        <p:spPr>
          <a:xfrm>
            <a:off x="5191506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579501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2"/>
          <p:cNvSpPr/>
          <p:nvPr/>
        </p:nvSpPr>
        <p:spPr>
          <a:xfrm>
            <a:off x="579501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6576822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747522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2"/>
          <p:cNvSpPr/>
          <p:nvPr/>
        </p:nvSpPr>
        <p:spPr>
          <a:xfrm>
            <a:off x="747522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807872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2"/>
          <p:cNvSpPr/>
          <p:nvPr/>
        </p:nvSpPr>
        <p:spPr>
          <a:xfrm>
            <a:off x="807872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2"/>
          <p:cNvSpPr/>
          <p:nvPr/>
        </p:nvSpPr>
        <p:spPr>
          <a:xfrm>
            <a:off x="342900" y="3874770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DEE8EE"/>
          </a:solidFill>
          <a:ln cap="flat" cmpd="sng" w="9525">
            <a:solidFill>
              <a:srgbClr val="C4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2"/>
          <p:cNvSpPr/>
          <p:nvPr/>
        </p:nvSpPr>
        <p:spPr>
          <a:xfrm>
            <a:off x="342900" y="3874770"/>
            <a:ext cx="39776" cy="342900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2"/>
          <p:cNvSpPr/>
          <p:nvPr/>
        </p:nvSpPr>
        <p:spPr>
          <a:xfrm>
            <a:off x="438912" y="3902202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DISTRICT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2002536" y="3936492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$207.1K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2"/>
          <p:cNvSpPr/>
          <p:nvPr/>
        </p:nvSpPr>
        <p:spPr>
          <a:xfrm>
            <a:off x="2900934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2"/>
          <p:cNvSpPr/>
          <p:nvPr/>
        </p:nvSpPr>
        <p:spPr>
          <a:xfrm>
            <a:off x="2900934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+4.5%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3504438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2"/>
          <p:cNvSpPr/>
          <p:nvPr/>
        </p:nvSpPr>
        <p:spPr>
          <a:xfrm>
            <a:off x="3504438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+3.2%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4293108" y="3936492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11,563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5191506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2"/>
          <p:cNvSpPr/>
          <p:nvPr/>
        </p:nvSpPr>
        <p:spPr>
          <a:xfrm>
            <a:off x="5191506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5795010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2"/>
          <p:cNvSpPr/>
          <p:nvPr/>
        </p:nvSpPr>
        <p:spPr>
          <a:xfrm>
            <a:off x="5795010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6576822" y="3936492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$17.91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7475220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2"/>
          <p:cNvSpPr/>
          <p:nvPr/>
        </p:nvSpPr>
        <p:spPr>
          <a:xfrm>
            <a:off x="7475220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2"/>
          <p:cNvSpPr/>
          <p:nvPr/>
        </p:nvSpPr>
        <p:spPr>
          <a:xfrm>
            <a:off x="8078724" y="3943350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2"/>
          <p:cNvSpPr/>
          <p:nvPr/>
        </p:nvSpPr>
        <p:spPr>
          <a:xfrm>
            <a:off x="8078724" y="3950208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342900" y="4334256"/>
            <a:ext cx="8449056" cy="425196"/>
          </a:xfrm>
          <a:prstGeom prst="roundRect">
            <a:avLst>
              <a:gd fmla="val 9677" name="adj"/>
            </a:avLst>
          </a:prstGeom>
          <a:solidFill>
            <a:srgbClr val="E8EFF4"/>
          </a:solidFill>
          <a:ln cap="flat" cmpd="sng" w="9525">
            <a:solidFill>
              <a:srgbClr val="D5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342900" y="4334256"/>
            <a:ext cx="41148" cy="425196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2"/>
          <p:cNvSpPr/>
          <p:nvPr/>
        </p:nvSpPr>
        <p:spPr>
          <a:xfrm>
            <a:off x="473202" y="4416552"/>
            <a:ext cx="7200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473202" y="4533138"/>
            <a:ext cx="8174736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HAMPTON LEADS THE DISTRICT  •  +12.2% SALES YoY AND +6.9% WoW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8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3"/>
          <p:cNvSpPr/>
          <p:nvPr/>
        </p:nvSpPr>
        <p:spPr>
          <a:xfrm>
            <a:off x="0" y="0"/>
            <a:ext cx="9143771" cy="747522"/>
          </a:xfrm>
          <a:prstGeom prst="rect">
            <a:avLst/>
          </a:prstGeom>
          <a:solidFill>
            <a:srgbClr val="172838"/>
          </a:solidFill>
          <a:ln cap="flat" cmpd="sng" w="12700">
            <a:solidFill>
              <a:srgbClr val="172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3"/>
          <p:cNvSpPr/>
          <p:nvPr/>
        </p:nvSpPr>
        <p:spPr>
          <a:xfrm>
            <a:off x="0" y="747522"/>
            <a:ext cx="9143771" cy="44577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3"/>
          <p:cNvSpPr/>
          <p:nvPr/>
        </p:nvSpPr>
        <p:spPr>
          <a:xfrm>
            <a:off x="342900" y="109728"/>
            <a:ext cx="617220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8C8D4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7200900" y="109728"/>
            <a:ext cx="159105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OCT 12–18,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342900" y="315468"/>
            <a:ext cx="668655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CHRIS  /  VIRGINIA | CHESAPEAKE + BEACH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6940296" y="425196"/>
            <a:ext cx="18653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3 RESTAURANTS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3"/>
          <p:cNvSpPr/>
          <p:nvPr/>
        </p:nvSpPr>
        <p:spPr>
          <a:xfrm>
            <a:off x="342900" y="4924044"/>
            <a:ext cx="8455914" cy="8230"/>
          </a:xfrm>
          <a:prstGeom prst="rect">
            <a:avLst/>
          </a:prstGeom>
          <a:solidFill>
            <a:srgbClr val="E0E7EC"/>
          </a:solidFill>
          <a:ln cap="flat" cmpd="sng" w="12700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3"/>
          <p:cNvSpPr/>
          <p:nvPr/>
        </p:nvSpPr>
        <p:spPr>
          <a:xfrm>
            <a:off x="356616" y="4958334"/>
            <a:ext cx="795528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SOURCE: Zaxby’s ReportHub • WTD through Sunday 10/18/2026  |  Prior week 10/5–10/11/2026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8250174" y="4951476"/>
            <a:ext cx="534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04 / 0</a:t>
            </a:r>
            <a:r>
              <a:rPr lang="en" sz="700">
                <a:solidFill>
                  <a:srgbClr val="67788B"/>
                </a:solidFill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34290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3"/>
          <p:cNvSpPr/>
          <p:nvPr/>
        </p:nvSpPr>
        <p:spPr>
          <a:xfrm>
            <a:off x="34290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3"/>
          <p:cNvSpPr/>
          <p:nvPr/>
        </p:nvSpPr>
        <p:spPr>
          <a:xfrm>
            <a:off x="49377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49377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$125.5K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3"/>
          <p:cNvSpPr/>
          <p:nvPr/>
        </p:nvSpPr>
        <p:spPr>
          <a:xfrm>
            <a:off x="224942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260604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3"/>
          <p:cNvSpPr/>
          <p:nvPr/>
        </p:nvSpPr>
        <p:spPr>
          <a:xfrm>
            <a:off x="21671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3"/>
          <p:cNvSpPr/>
          <p:nvPr/>
        </p:nvSpPr>
        <p:spPr>
          <a:xfrm>
            <a:off x="21671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+1.0%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3"/>
          <p:cNvSpPr/>
          <p:nvPr/>
        </p:nvSpPr>
        <p:spPr>
          <a:xfrm>
            <a:off x="257860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3"/>
          <p:cNvSpPr/>
          <p:nvPr/>
        </p:nvSpPr>
        <p:spPr>
          <a:xfrm>
            <a:off x="257860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-1.8%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3"/>
          <p:cNvSpPr/>
          <p:nvPr/>
        </p:nvSpPr>
        <p:spPr>
          <a:xfrm>
            <a:off x="49377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3"/>
          <p:cNvSpPr/>
          <p:nvPr/>
        </p:nvSpPr>
        <p:spPr>
          <a:xfrm>
            <a:off x="322326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3"/>
          <p:cNvSpPr/>
          <p:nvPr/>
        </p:nvSpPr>
        <p:spPr>
          <a:xfrm>
            <a:off x="322326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3"/>
          <p:cNvSpPr/>
          <p:nvPr/>
        </p:nvSpPr>
        <p:spPr>
          <a:xfrm>
            <a:off x="337413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337413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6,471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512978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3"/>
          <p:cNvSpPr/>
          <p:nvPr/>
        </p:nvSpPr>
        <p:spPr>
          <a:xfrm>
            <a:off x="548640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3"/>
          <p:cNvSpPr/>
          <p:nvPr/>
        </p:nvSpPr>
        <p:spPr>
          <a:xfrm>
            <a:off x="504748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3"/>
          <p:cNvSpPr/>
          <p:nvPr/>
        </p:nvSpPr>
        <p:spPr>
          <a:xfrm>
            <a:off x="504748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545896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3"/>
          <p:cNvSpPr/>
          <p:nvPr/>
        </p:nvSpPr>
        <p:spPr>
          <a:xfrm>
            <a:off x="545896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-2.1%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3"/>
          <p:cNvSpPr/>
          <p:nvPr/>
        </p:nvSpPr>
        <p:spPr>
          <a:xfrm>
            <a:off x="337413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3"/>
          <p:cNvSpPr/>
          <p:nvPr/>
        </p:nvSpPr>
        <p:spPr>
          <a:xfrm>
            <a:off x="6103620" y="946404"/>
            <a:ext cx="2708910" cy="809244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3"/>
          <p:cNvSpPr/>
          <p:nvPr/>
        </p:nvSpPr>
        <p:spPr>
          <a:xfrm>
            <a:off x="6103620" y="946404"/>
            <a:ext cx="37719" cy="809244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3"/>
          <p:cNvSpPr/>
          <p:nvPr/>
        </p:nvSpPr>
        <p:spPr>
          <a:xfrm>
            <a:off x="6254496" y="1028700"/>
            <a:ext cx="1440180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3"/>
          <p:cNvSpPr/>
          <p:nvPr/>
        </p:nvSpPr>
        <p:spPr>
          <a:xfrm>
            <a:off x="6254496" y="1172718"/>
            <a:ext cx="1748790" cy="34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$19.39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8010144" y="1076706"/>
            <a:ext cx="246888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8366760" y="1076706"/>
            <a:ext cx="233172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792784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792784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+2.3%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8339328" y="1241298"/>
            <a:ext cx="384048" cy="226314"/>
          </a:xfrm>
          <a:prstGeom prst="roundRect">
            <a:avLst>
              <a:gd fmla="val 21212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3"/>
          <p:cNvSpPr/>
          <p:nvPr/>
        </p:nvSpPr>
        <p:spPr>
          <a:xfrm>
            <a:off x="8339328" y="1248156"/>
            <a:ext cx="384048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+0.4%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3"/>
          <p:cNvSpPr/>
          <p:nvPr/>
        </p:nvSpPr>
        <p:spPr>
          <a:xfrm>
            <a:off x="6254496" y="1584198"/>
            <a:ext cx="24345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Full district • same-store comparisons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3"/>
          <p:cNvSpPr/>
          <p:nvPr/>
        </p:nvSpPr>
        <p:spPr>
          <a:xfrm>
            <a:off x="411480" y="1885950"/>
            <a:ext cx="14058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B4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63B4B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3"/>
          <p:cNvSpPr/>
          <p:nvPr/>
        </p:nvSpPr>
        <p:spPr>
          <a:xfrm>
            <a:off x="1927098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3"/>
          <p:cNvSpPr/>
          <p:nvPr/>
        </p:nvSpPr>
        <p:spPr>
          <a:xfrm>
            <a:off x="1927098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3"/>
          <p:cNvSpPr/>
          <p:nvPr/>
        </p:nvSpPr>
        <p:spPr>
          <a:xfrm>
            <a:off x="4217670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3"/>
          <p:cNvSpPr/>
          <p:nvPr/>
        </p:nvSpPr>
        <p:spPr>
          <a:xfrm>
            <a:off x="4217670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6501384" y="1817370"/>
            <a:ext cx="2208276" cy="260604"/>
          </a:xfrm>
          <a:prstGeom prst="roundRect">
            <a:avLst>
              <a:gd fmla="val 13158" name="adj"/>
            </a:avLst>
          </a:prstGeom>
          <a:solidFill>
            <a:srgbClr val="263B4B"/>
          </a:solidFill>
          <a:ln cap="flat" cmpd="sng" w="12700">
            <a:solidFill>
              <a:srgbClr val="263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3"/>
          <p:cNvSpPr/>
          <p:nvPr/>
        </p:nvSpPr>
        <p:spPr>
          <a:xfrm>
            <a:off x="6501384" y="1831086"/>
            <a:ext cx="22082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3"/>
          <p:cNvSpPr/>
          <p:nvPr/>
        </p:nvSpPr>
        <p:spPr>
          <a:xfrm>
            <a:off x="198882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3"/>
          <p:cNvSpPr/>
          <p:nvPr/>
        </p:nvSpPr>
        <p:spPr>
          <a:xfrm>
            <a:off x="2935224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3"/>
          <p:cNvSpPr/>
          <p:nvPr/>
        </p:nvSpPr>
        <p:spPr>
          <a:xfrm>
            <a:off x="3531870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3"/>
          <p:cNvSpPr/>
          <p:nvPr/>
        </p:nvSpPr>
        <p:spPr>
          <a:xfrm>
            <a:off x="4286250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/>
          <p:nvPr/>
        </p:nvSpPr>
        <p:spPr>
          <a:xfrm>
            <a:off x="5225796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3"/>
          <p:cNvSpPr/>
          <p:nvPr/>
        </p:nvSpPr>
        <p:spPr>
          <a:xfrm>
            <a:off x="5822442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3"/>
          <p:cNvSpPr/>
          <p:nvPr/>
        </p:nvSpPr>
        <p:spPr>
          <a:xfrm>
            <a:off x="6569964" y="2112264"/>
            <a:ext cx="9189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7509510" y="2112264"/>
            <a:ext cx="548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WoW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8106156" y="2112264"/>
            <a:ext cx="5212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YoY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342900" y="2338578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3"/>
          <p:cNvSpPr/>
          <p:nvPr/>
        </p:nvSpPr>
        <p:spPr>
          <a:xfrm>
            <a:off x="438912" y="2366010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Beach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3"/>
          <p:cNvSpPr/>
          <p:nvPr/>
        </p:nvSpPr>
        <p:spPr>
          <a:xfrm>
            <a:off x="2002536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$33.8K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290093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"/>
          <p:cNvSpPr/>
          <p:nvPr/>
        </p:nvSpPr>
        <p:spPr>
          <a:xfrm>
            <a:off x="290093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3"/>
          <p:cNvSpPr/>
          <p:nvPr/>
        </p:nvSpPr>
        <p:spPr>
          <a:xfrm>
            <a:off x="3504438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3"/>
          <p:cNvSpPr/>
          <p:nvPr/>
        </p:nvSpPr>
        <p:spPr>
          <a:xfrm>
            <a:off x="3504438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3"/>
          <p:cNvSpPr/>
          <p:nvPr/>
        </p:nvSpPr>
        <p:spPr>
          <a:xfrm>
            <a:off x="4293108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1,687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3"/>
          <p:cNvSpPr/>
          <p:nvPr/>
        </p:nvSpPr>
        <p:spPr>
          <a:xfrm>
            <a:off x="5191506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3"/>
          <p:cNvSpPr/>
          <p:nvPr/>
        </p:nvSpPr>
        <p:spPr>
          <a:xfrm>
            <a:off x="5191506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579501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3"/>
          <p:cNvSpPr/>
          <p:nvPr/>
        </p:nvSpPr>
        <p:spPr>
          <a:xfrm>
            <a:off x="579501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3"/>
          <p:cNvSpPr/>
          <p:nvPr/>
        </p:nvSpPr>
        <p:spPr>
          <a:xfrm>
            <a:off x="6576822" y="2400300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7475220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3"/>
          <p:cNvSpPr/>
          <p:nvPr/>
        </p:nvSpPr>
        <p:spPr>
          <a:xfrm>
            <a:off x="7475220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8078724" y="2407158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3"/>
          <p:cNvSpPr/>
          <p:nvPr/>
        </p:nvSpPr>
        <p:spPr>
          <a:xfrm>
            <a:off x="8078724" y="2414016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+0.9%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3"/>
          <p:cNvSpPr/>
          <p:nvPr/>
        </p:nvSpPr>
        <p:spPr>
          <a:xfrm>
            <a:off x="342900" y="2722626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3"/>
          <p:cNvSpPr/>
          <p:nvPr/>
        </p:nvSpPr>
        <p:spPr>
          <a:xfrm>
            <a:off x="438912" y="2750058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Chesapeake Square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3"/>
          <p:cNvSpPr/>
          <p:nvPr/>
        </p:nvSpPr>
        <p:spPr>
          <a:xfrm>
            <a:off x="2002536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$54.8K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3"/>
          <p:cNvSpPr/>
          <p:nvPr/>
        </p:nvSpPr>
        <p:spPr>
          <a:xfrm>
            <a:off x="290093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3"/>
          <p:cNvSpPr/>
          <p:nvPr/>
        </p:nvSpPr>
        <p:spPr>
          <a:xfrm>
            <a:off x="290093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+3.8%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3"/>
          <p:cNvSpPr/>
          <p:nvPr/>
        </p:nvSpPr>
        <p:spPr>
          <a:xfrm>
            <a:off x="3504438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3"/>
          <p:cNvSpPr/>
          <p:nvPr/>
        </p:nvSpPr>
        <p:spPr>
          <a:xfrm>
            <a:off x="3504438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3"/>
          <p:cNvSpPr/>
          <p:nvPr/>
        </p:nvSpPr>
        <p:spPr>
          <a:xfrm>
            <a:off x="4293108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2,951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3"/>
          <p:cNvSpPr/>
          <p:nvPr/>
        </p:nvSpPr>
        <p:spPr>
          <a:xfrm>
            <a:off x="5191506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3"/>
          <p:cNvSpPr/>
          <p:nvPr/>
        </p:nvSpPr>
        <p:spPr>
          <a:xfrm>
            <a:off x="5191506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+1.7%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3"/>
          <p:cNvSpPr/>
          <p:nvPr/>
        </p:nvSpPr>
        <p:spPr>
          <a:xfrm>
            <a:off x="579501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3"/>
          <p:cNvSpPr/>
          <p:nvPr/>
        </p:nvSpPr>
        <p:spPr>
          <a:xfrm>
            <a:off x="579501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3"/>
          <p:cNvSpPr/>
          <p:nvPr/>
        </p:nvSpPr>
        <p:spPr>
          <a:xfrm>
            <a:off x="6576822" y="2784348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$18.58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7475220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3"/>
          <p:cNvSpPr/>
          <p:nvPr/>
        </p:nvSpPr>
        <p:spPr>
          <a:xfrm>
            <a:off x="7475220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3"/>
          <p:cNvSpPr/>
          <p:nvPr/>
        </p:nvSpPr>
        <p:spPr>
          <a:xfrm>
            <a:off x="8078724" y="2791206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3"/>
          <p:cNvSpPr/>
          <p:nvPr/>
        </p:nvSpPr>
        <p:spPr>
          <a:xfrm>
            <a:off x="8078724" y="2798064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3"/>
          <p:cNvSpPr/>
          <p:nvPr/>
        </p:nvSpPr>
        <p:spPr>
          <a:xfrm>
            <a:off x="342900" y="3106674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FFFFFF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3"/>
          <p:cNvSpPr/>
          <p:nvPr/>
        </p:nvSpPr>
        <p:spPr>
          <a:xfrm>
            <a:off x="438912" y="3134106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Hillcrest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3"/>
          <p:cNvSpPr/>
          <p:nvPr/>
        </p:nvSpPr>
        <p:spPr>
          <a:xfrm>
            <a:off x="2002536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$36.8K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3"/>
          <p:cNvSpPr/>
          <p:nvPr/>
        </p:nvSpPr>
        <p:spPr>
          <a:xfrm>
            <a:off x="290093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3"/>
          <p:cNvSpPr/>
          <p:nvPr/>
        </p:nvSpPr>
        <p:spPr>
          <a:xfrm>
            <a:off x="290093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-0.6%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3504438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3"/>
          <p:cNvSpPr/>
          <p:nvPr/>
        </p:nvSpPr>
        <p:spPr>
          <a:xfrm>
            <a:off x="3504438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-4.5%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3"/>
          <p:cNvSpPr/>
          <p:nvPr/>
        </p:nvSpPr>
        <p:spPr>
          <a:xfrm>
            <a:off x="4293108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1,833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3"/>
          <p:cNvSpPr/>
          <p:nvPr/>
        </p:nvSpPr>
        <p:spPr>
          <a:xfrm>
            <a:off x="5191506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3"/>
          <p:cNvSpPr/>
          <p:nvPr/>
        </p:nvSpPr>
        <p:spPr>
          <a:xfrm>
            <a:off x="5191506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-6.8%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3"/>
          <p:cNvSpPr/>
          <p:nvPr/>
        </p:nvSpPr>
        <p:spPr>
          <a:xfrm>
            <a:off x="579501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3"/>
          <p:cNvSpPr/>
          <p:nvPr/>
        </p:nvSpPr>
        <p:spPr>
          <a:xfrm>
            <a:off x="579501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-6.5%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3"/>
          <p:cNvSpPr/>
          <p:nvPr/>
        </p:nvSpPr>
        <p:spPr>
          <a:xfrm>
            <a:off x="6576822" y="3168396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$20.08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7475220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3"/>
          <p:cNvSpPr/>
          <p:nvPr/>
        </p:nvSpPr>
        <p:spPr>
          <a:xfrm>
            <a:off x="7475220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+6.6%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3"/>
          <p:cNvSpPr/>
          <p:nvPr/>
        </p:nvSpPr>
        <p:spPr>
          <a:xfrm>
            <a:off x="8078724" y="3175254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3"/>
          <p:cNvSpPr/>
          <p:nvPr/>
        </p:nvSpPr>
        <p:spPr>
          <a:xfrm>
            <a:off x="8078724" y="3182112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3"/>
          <p:cNvSpPr/>
          <p:nvPr/>
        </p:nvSpPr>
        <p:spPr>
          <a:xfrm>
            <a:off x="342900" y="3490722"/>
            <a:ext cx="8449056" cy="342900"/>
          </a:xfrm>
          <a:prstGeom prst="roundRect">
            <a:avLst>
              <a:gd fmla="val 11000" name="adj"/>
            </a:avLst>
          </a:prstGeom>
          <a:solidFill>
            <a:srgbClr val="DEE8EE"/>
          </a:solidFill>
          <a:ln cap="flat" cmpd="sng" w="9525">
            <a:solidFill>
              <a:srgbClr val="C4D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3"/>
          <p:cNvSpPr/>
          <p:nvPr/>
        </p:nvSpPr>
        <p:spPr>
          <a:xfrm>
            <a:off x="342900" y="3490722"/>
            <a:ext cx="39776" cy="342900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3"/>
          <p:cNvSpPr/>
          <p:nvPr/>
        </p:nvSpPr>
        <p:spPr>
          <a:xfrm>
            <a:off x="438912" y="3518154"/>
            <a:ext cx="145389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DISTRICT 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3"/>
          <p:cNvSpPr/>
          <p:nvPr/>
        </p:nvSpPr>
        <p:spPr>
          <a:xfrm>
            <a:off x="2002536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$125.5K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3"/>
          <p:cNvSpPr/>
          <p:nvPr/>
        </p:nvSpPr>
        <p:spPr>
          <a:xfrm>
            <a:off x="290093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3"/>
          <p:cNvSpPr/>
          <p:nvPr/>
        </p:nvSpPr>
        <p:spPr>
          <a:xfrm>
            <a:off x="290093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+1.0%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3"/>
          <p:cNvSpPr/>
          <p:nvPr/>
        </p:nvSpPr>
        <p:spPr>
          <a:xfrm>
            <a:off x="3504438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3"/>
          <p:cNvSpPr/>
          <p:nvPr/>
        </p:nvSpPr>
        <p:spPr>
          <a:xfrm>
            <a:off x="3504438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3"/>
          <p:cNvSpPr/>
          <p:nvPr/>
        </p:nvSpPr>
        <p:spPr>
          <a:xfrm>
            <a:off x="4293108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6,471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3"/>
          <p:cNvSpPr/>
          <p:nvPr/>
        </p:nvSpPr>
        <p:spPr>
          <a:xfrm>
            <a:off x="5191506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3"/>
          <p:cNvSpPr/>
          <p:nvPr/>
        </p:nvSpPr>
        <p:spPr>
          <a:xfrm>
            <a:off x="5191506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-1.2%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3"/>
          <p:cNvSpPr/>
          <p:nvPr/>
        </p:nvSpPr>
        <p:spPr>
          <a:xfrm>
            <a:off x="579501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FCECEE"/>
          </a:solidFill>
          <a:ln cap="flat" cmpd="sng" w="12700">
            <a:solidFill>
              <a:srgbClr val="FC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3"/>
          <p:cNvSpPr/>
          <p:nvPr/>
        </p:nvSpPr>
        <p:spPr>
          <a:xfrm>
            <a:off x="579501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32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323B"/>
                </a:solidFill>
                <a:latin typeface="Arial"/>
                <a:ea typeface="Arial"/>
                <a:cs typeface="Arial"/>
                <a:sym typeface="Arial"/>
              </a:rPr>
              <a:t>-2.1%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3"/>
          <p:cNvSpPr/>
          <p:nvPr/>
        </p:nvSpPr>
        <p:spPr>
          <a:xfrm>
            <a:off x="6576822" y="3552444"/>
            <a:ext cx="939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$19.39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3"/>
          <p:cNvSpPr/>
          <p:nvPr/>
        </p:nvSpPr>
        <p:spPr>
          <a:xfrm>
            <a:off x="7475220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3"/>
          <p:cNvSpPr/>
          <p:nvPr/>
        </p:nvSpPr>
        <p:spPr>
          <a:xfrm>
            <a:off x="7475220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+2.3%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3"/>
          <p:cNvSpPr/>
          <p:nvPr/>
        </p:nvSpPr>
        <p:spPr>
          <a:xfrm>
            <a:off x="8078724" y="3559302"/>
            <a:ext cx="534924" cy="198882"/>
          </a:xfrm>
          <a:prstGeom prst="roundRect">
            <a:avLst>
              <a:gd fmla="val 24138" name="adj"/>
            </a:avLst>
          </a:prstGeom>
          <a:solidFill>
            <a:srgbClr val="E7F4EF"/>
          </a:solidFill>
          <a:ln cap="flat" cmpd="sng" w="12700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3"/>
          <p:cNvSpPr/>
          <p:nvPr/>
        </p:nvSpPr>
        <p:spPr>
          <a:xfrm>
            <a:off x="8078724" y="3566160"/>
            <a:ext cx="534924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5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47D5A"/>
                </a:solidFill>
                <a:latin typeface="Arial"/>
                <a:ea typeface="Arial"/>
                <a:cs typeface="Arial"/>
                <a:sym typeface="Arial"/>
              </a:rPr>
              <a:t>+0.4%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3"/>
          <p:cNvSpPr/>
          <p:nvPr/>
        </p:nvSpPr>
        <p:spPr>
          <a:xfrm>
            <a:off x="342900" y="4334256"/>
            <a:ext cx="8449056" cy="425196"/>
          </a:xfrm>
          <a:prstGeom prst="roundRect">
            <a:avLst>
              <a:gd fmla="val 9677" name="adj"/>
            </a:avLst>
          </a:prstGeom>
          <a:solidFill>
            <a:srgbClr val="E8EFF4"/>
          </a:solidFill>
          <a:ln cap="flat" cmpd="sng" w="9525">
            <a:solidFill>
              <a:srgbClr val="D5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3"/>
          <p:cNvSpPr/>
          <p:nvPr/>
        </p:nvSpPr>
        <p:spPr>
          <a:xfrm>
            <a:off x="342900" y="4334256"/>
            <a:ext cx="41148" cy="425196"/>
          </a:xfrm>
          <a:prstGeom prst="rect">
            <a:avLst/>
          </a:prstGeom>
          <a:solidFill>
            <a:srgbClr val="C12C31"/>
          </a:solidFill>
          <a:ln cap="flat" cmpd="sng" w="12700">
            <a:solidFill>
              <a:srgbClr val="C12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3"/>
          <p:cNvSpPr/>
          <p:nvPr/>
        </p:nvSpPr>
        <p:spPr>
          <a:xfrm>
            <a:off x="473202" y="4416552"/>
            <a:ext cx="72009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788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7788B"/>
                </a:solidFill>
                <a:latin typeface="Arial"/>
                <a:ea typeface="Arial"/>
                <a:cs typeface="Arial"/>
                <a:sym typeface="Arial"/>
              </a:rPr>
              <a:t>READOUT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3"/>
          <p:cNvSpPr/>
          <p:nvPr/>
        </p:nvSpPr>
        <p:spPr>
          <a:xfrm>
            <a:off x="473202" y="4533138"/>
            <a:ext cx="8174736" cy="144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63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72636"/>
                </a:solidFill>
                <a:latin typeface="Arial"/>
                <a:ea typeface="Arial"/>
                <a:cs typeface="Arial"/>
                <a:sym typeface="Arial"/>
              </a:rPr>
              <a:t>SALES ARE NEGATIVE YoY AT ALL 3 STORES  •  HILLCREST TRAFFIC IS −6.5% YoY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4"/>
          <p:cNvSpPr/>
          <p:nvPr/>
        </p:nvSpPr>
        <p:spPr>
          <a:xfrm>
            <a:off x="0" y="0"/>
            <a:ext cx="9144000" cy="768096"/>
          </a:xfrm>
          <a:prstGeom prst="rect">
            <a:avLst/>
          </a:prstGeom>
          <a:solidFill>
            <a:srgbClr val="131B28"/>
          </a:solidFill>
          <a:ln cap="flat" cmpd="sng" w="12700">
            <a:solidFill>
              <a:srgbClr val="13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4"/>
          <p:cNvSpPr/>
          <p:nvPr/>
        </p:nvSpPr>
        <p:spPr>
          <a:xfrm>
            <a:off x="322326" y="192024"/>
            <a:ext cx="37719" cy="356616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4"/>
          <p:cNvSpPr/>
          <p:nvPr/>
        </p:nvSpPr>
        <p:spPr>
          <a:xfrm>
            <a:off x="459486" y="123444"/>
            <a:ext cx="5074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C0C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C0CF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4"/>
          <p:cNvSpPr/>
          <p:nvPr/>
        </p:nvSpPr>
        <p:spPr>
          <a:xfrm>
            <a:off x="445770" y="294894"/>
            <a:ext cx="2674620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MAEGAN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4"/>
          <p:cNvSpPr/>
          <p:nvPr/>
        </p:nvSpPr>
        <p:spPr>
          <a:xfrm>
            <a:off x="2866644" y="397764"/>
            <a:ext cx="32232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D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0CAD7"/>
                </a:solidFill>
                <a:latin typeface="Arial"/>
                <a:ea typeface="Arial"/>
                <a:cs typeface="Arial"/>
                <a:sym typeface="Arial"/>
              </a:rPr>
              <a:t>NORTH TENNESSEE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4"/>
          <p:cNvSpPr/>
          <p:nvPr/>
        </p:nvSpPr>
        <p:spPr>
          <a:xfrm>
            <a:off x="6926580" y="288036"/>
            <a:ext cx="186537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ENDED OCT 18,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4"/>
          <p:cNvSpPr/>
          <p:nvPr/>
        </p:nvSpPr>
        <p:spPr>
          <a:xfrm>
            <a:off x="0" y="768096"/>
            <a:ext cx="9144000" cy="3840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4"/>
          <p:cNvSpPr/>
          <p:nvPr/>
        </p:nvSpPr>
        <p:spPr>
          <a:xfrm>
            <a:off x="322326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4"/>
          <p:cNvSpPr/>
          <p:nvPr/>
        </p:nvSpPr>
        <p:spPr>
          <a:xfrm>
            <a:off x="438912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4"/>
          <p:cNvSpPr/>
          <p:nvPr/>
        </p:nvSpPr>
        <p:spPr>
          <a:xfrm>
            <a:off x="438912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4"/>
          <p:cNvSpPr/>
          <p:nvPr/>
        </p:nvSpPr>
        <p:spPr>
          <a:xfrm>
            <a:off x="1309878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4"/>
          <p:cNvSpPr/>
          <p:nvPr/>
        </p:nvSpPr>
        <p:spPr>
          <a:xfrm>
            <a:off x="2475738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4"/>
          <p:cNvSpPr/>
          <p:nvPr/>
        </p:nvSpPr>
        <p:spPr>
          <a:xfrm>
            <a:off x="2592324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4"/>
          <p:cNvSpPr/>
          <p:nvPr/>
        </p:nvSpPr>
        <p:spPr>
          <a:xfrm>
            <a:off x="2592324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4"/>
          <p:cNvSpPr/>
          <p:nvPr/>
        </p:nvSpPr>
        <p:spPr>
          <a:xfrm>
            <a:off x="3463290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4"/>
          <p:cNvSpPr/>
          <p:nvPr/>
        </p:nvSpPr>
        <p:spPr>
          <a:xfrm>
            <a:off x="4629150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4"/>
          <p:cNvSpPr/>
          <p:nvPr/>
        </p:nvSpPr>
        <p:spPr>
          <a:xfrm>
            <a:off x="4745736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4"/>
          <p:cNvSpPr/>
          <p:nvPr/>
        </p:nvSpPr>
        <p:spPr>
          <a:xfrm>
            <a:off x="4745736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4"/>
          <p:cNvSpPr/>
          <p:nvPr/>
        </p:nvSpPr>
        <p:spPr>
          <a:xfrm>
            <a:off x="5616702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4"/>
          <p:cNvSpPr/>
          <p:nvPr/>
        </p:nvSpPr>
        <p:spPr>
          <a:xfrm>
            <a:off x="6782562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4"/>
          <p:cNvSpPr/>
          <p:nvPr/>
        </p:nvSpPr>
        <p:spPr>
          <a:xfrm>
            <a:off x="6899148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34"/>
          <p:cNvSpPr/>
          <p:nvPr/>
        </p:nvSpPr>
        <p:spPr>
          <a:xfrm>
            <a:off x="6899148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4"/>
          <p:cNvSpPr/>
          <p:nvPr/>
        </p:nvSpPr>
        <p:spPr>
          <a:xfrm>
            <a:off x="7770114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34"/>
          <p:cNvSpPr/>
          <p:nvPr/>
        </p:nvSpPr>
        <p:spPr>
          <a:xfrm>
            <a:off x="438912" y="1741932"/>
            <a:ext cx="1453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LOCATION &amp; SALES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4"/>
          <p:cNvSpPr/>
          <p:nvPr/>
        </p:nvSpPr>
        <p:spPr>
          <a:xfrm>
            <a:off x="1947672" y="1741932"/>
            <a:ext cx="32369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 /  SALES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4"/>
          <p:cNvSpPr/>
          <p:nvPr/>
        </p:nvSpPr>
        <p:spPr>
          <a:xfrm>
            <a:off x="5431536" y="1741932"/>
            <a:ext cx="33261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 /  TRANSACTIONS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2" name="Google Shape;1082;p34"/>
          <p:cNvCxnSpPr/>
          <p:nvPr/>
        </p:nvCxnSpPr>
        <p:spPr>
          <a:xfrm>
            <a:off x="322326" y="1933956"/>
            <a:ext cx="8497062" cy="0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34"/>
          <p:cNvSpPr/>
          <p:nvPr/>
        </p:nvSpPr>
        <p:spPr>
          <a:xfrm>
            <a:off x="322326" y="1995678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4"/>
          <p:cNvSpPr/>
          <p:nvPr/>
        </p:nvSpPr>
        <p:spPr>
          <a:xfrm>
            <a:off x="322326" y="2077974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4"/>
          <p:cNvSpPr/>
          <p:nvPr/>
        </p:nvSpPr>
        <p:spPr>
          <a:xfrm>
            <a:off x="445770" y="2091690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Portland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4"/>
          <p:cNvSpPr/>
          <p:nvPr/>
        </p:nvSpPr>
        <p:spPr>
          <a:xfrm>
            <a:off x="452628" y="2561463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4"/>
          <p:cNvSpPr/>
          <p:nvPr/>
        </p:nvSpPr>
        <p:spPr>
          <a:xfrm>
            <a:off x="946404" y="2554605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$77,851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8" name="Google Shape;1088;p34"/>
          <p:cNvCxnSpPr/>
          <p:nvPr/>
        </p:nvCxnSpPr>
        <p:spPr>
          <a:xfrm>
            <a:off x="182422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34"/>
          <p:cNvCxnSpPr/>
          <p:nvPr/>
        </p:nvCxnSpPr>
        <p:spPr>
          <a:xfrm>
            <a:off x="532180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p34"/>
          <p:cNvSpPr/>
          <p:nvPr/>
        </p:nvSpPr>
        <p:spPr>
          <a:xfrm>
            <a:off x="196138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$60.57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4"/>
          <p:cNvSpPr/>
          <p:nvPr/>
        </p:nvSpPr>
        <p:spPr>
          <a:xfrm>
            <a:off x="300380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−$21.18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4"/>
          <p:cNvSpPr/>
          <p:nvPr/>
        </p:nvSpPr>
        <p:spPr>
          <a:xfrm>
            <a:off x="4347972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4"/>
          <p:cNvSpPr/>
          <p:nvPr/>
        </p:nvSpPr>
        <p:spPr>
          <a:xfrm>
            <a:off x="4347972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4"/>
          <p:cNvSpPr/>
          <p:nvPr/>
        </p:nvSpPr>
        <p:spPr>
          <a:xfrm>
            <a:off x="197510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$82–87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4"/>
          <p:cNvSpPr/>
          <p:nvPr/>
        </p:nvSpPr>
        <p:spPr>
          <a:xfrm>
            <a:off x="3477006" y="2359152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−$21.43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4"/>
          <p:cNvSpPr/>
          <p:nvPr/>
        </p:nvSpPr>
        <p:spPr>
          <a:xfrm>
            <a:off x="197510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—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4"/>
          <p:cNvSpPr/>
          <p:nvPr/>
        </p:nvSpPr>
        <p:spPr>
          <a:xfrm>
            <a:off x="299694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$81.75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4"/>
          <p:cNvSpPr/>
          <p:nvPr/>
        </p:nvSpPr>
        <p:spPr>
          <a:xfrm>
            <a:off x="4025646" y="2636901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$60.57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4"/>
          <p:cNvSpPr/>
          <p:nvPr/>
        </p:nvSpPr>
        <p:spPr>
          <a:xfrm>
            <a:off x="545896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3.24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4"/>
          <p:cNvSpPr/>
          <p:nvPr/>
        </p:nvSpPr>
        <p:spPr>
          <a:xfrm>
            <a:off x="650138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−0.89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4"/>
          <p:cNvSpPr/>
          <p:nvPr/>
        </p:nvSpPr>
        <p:spPr>
          <a:xfrm>
            <a:off x="7838694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4"/>
          <p:cNvSpPr/>
          <p:nvPr/>
        </p:nvSpPr>
        <p:spPr>
          <a:xfrm>
            <a:off x="7838694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4"/>
          <p:cNvSpPr/>
          <p:nvPr/>
        </p:nvSpPr>
        <p:spPr>
          <a:xfrm>
            <a:off x="547268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5.25+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4"/>
          <p:cNvSpPr/>
          <p:nvPr/>
        </p:nvSpPr>
        <p:spPr>
          <a:xfrm>
            <a:off x="6974586" y="2359152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−2.01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4"/>
          <p:cNvSpPr/>
          <p:nvPr/>
        </p:nvSpPr>
        <p:spPr>
          <a:xfrm>
            <a:off x="547268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—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4"/>
          <p:cNvSpPr/>
          <p:nvPr/>
        </p:nvSpPr>
        <p:spPr>
          <a:xfrm>
            <a:off x="649452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4"/>
          <p:cNvSpPr/>
          <p:nvPr/>
        </p:nvSpPr>
        <p:spPr>
          <a:xfrm>
            <a:off x="7523226" y="2636901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3.24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4"/>
          <p:cNvSpPr/>
          <p:nvPr/>
        </p:nvSpPr>
        <p:spPr>
          <a:xfrm>
            <a:off x="322326" y="2914650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4"/>
          <p:cNvSpPr/>
          <p:nvPr/>
        </p:nvSpPr>
        <p:spPr>
          <a:xfrm>
            <a:off x="322326" y="2996946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4"/>
          <p:cNvSpPr/>
          <p:nvPr/>
        </p:nvSpPr>
        <p:spPr>
          <a:xfrm>
            <a:off x="445770" y="3010662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Springfield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4"/>
          <p:cNvSpPr/>
          <p:nvPr/>
        </p:nvSpPr>
        <p:spPr>
          <a:xfrm>
            <a:off x="452628" y="3480435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4"/>
          <p:cNvSpPr/>
          <p:nvPr/>
        </p:nvSpPr>
        <p:spPr>
          <a:xfrm>
            <a:off x="946404" y="3473577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$59,807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3" name="Google Shape;1113;p34"/>
          <p:cNvCxnSpPr/>
          <p:nvPr/>
        </p:nvCxnSpPr>
        <p:spPr>
          <a:xfrm>
            <a:off x="182422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34"/>
          <p:cNvCxnSpPr/>
          <p:nvPr/>
        </p:nvCxnSpPr>
        <p:spPr>
          <a:xfrm>
            <a:off x="532180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5" name="Google Shape;1115;p34"/>
          <p:cNvSpPr/>
          <p:nvPr/>
        </p:nvSpPr>
        <p:spPr>
          <a:xfrm>
            <a:off x="196138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$74.33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4"/>
          <p:cNvSpPr/>
          <p:nvPr/>
        </p:nvSpPr>
        <p:spPr>
          <a:xfrm>
            <a:off x="300380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+$3.98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4"/>
          <p:cNvSpPr/>
          <p:nvPr/>
        </p:nvSpPr>
        <p:spPr>
          <a:xfrm>
            <a:off x="4347972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34"/>
          <p:cNvSpPr/>
          <p:nvPr/>
        </p:nvSpPr>
        <p:spPr>
          <a:xfrm>
            <a:off x="4347972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197510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$82–87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4"/>
          <p:cNvSpPr/>
          <p:nvPr/>
        </p:nvSpPr>
        <p:spPr>
          <a:xfrm>
            <a:off x="3477006" y="3278124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−$7.67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4"/>
          <p:cNvSpPr/>
          <p:nvPr/>
        </p:nvSpPr>
        <p:spPr>
          <a:xfrm>
            <a:off x="197510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$73.29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4"/>
          <p:cNvSpPr/>
          <p:nvPr/>
        </p:nvSpPr>
        <p:spPr>
          <a:xfrm>
            <a:off x="299694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$70.35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4"/>
          <p:cNvSpPr/>
          <p:nvPr/>
        </p:nvSpPr>
        <p:spPr>
          <a:xfrm>
            <a:off x="4025646" y="3555873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$74.33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4"/>
          <p:cNvSpPr/>
          <p:nvPr/>
        </p:nvSpPr>
        <p:spPr>
          <a:xfrm>
            <a:off x="545896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4.21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4"/>
          <p:cNvSpPr/>
          <p:nvPr/>
        </p:nvSpPr>
        <p:spPr>
          <a:xfrm>
            <a:off x="650138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+0.20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4"/>
          <p:cNvSpPr/>
          <p:nvPr/>
        </p:nvSpPr>
        <p:spPr>
          <a:xfrm>
            <a:off x="7838694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4"/>
          <p:cNvSpPr/>
          <p:nvPr/>
        </p:nvSpPr>
        <p:spPr>
          <a:xfrm>
            <a:off x="7838694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4"/>
          <p:cNvSpPr/>
          <p:nvPr/>
        </p:nvSpPr>
        <p:spPr>
          <a:xfrm>
            <a:off x="547268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5.25+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4"/>
          <p:cNvSpPr/>
          <p:nvPr/>
        </p:nvSpPr>
        <p:spPr>
          <a:xfrm>
            <a:off x="6974586" y="3278124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−1.04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4"/>
          <p:cNvSpPr/>
          <p:nvPr/>
        </p:nvSpPr>
        <p:spPr>
          <a:xfrm>
            <a:off x="547268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4.07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4"/>
          <p:cNvSpPr/>
          <p:nvPr/>
        </p:nvSpPr>
        <p:spPr>
          <a:xfrm>
            <a:off x="649452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4"/>
          <p:cNvSpPr/>
          <p:nvPr/>
        </p:nvSpPr>
        <p:spPr>
          <a:xfrm>
            <a:off x="7523226" y="3555873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4.21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4"/>
          <p:cNvSpPr/>
          <p:nvPr/>
        </p:nvSpPr>
        <p:spPr>
          <a:xfrm>
            <a:off x="322326" y="3833622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4"/>
          <p:cNvSpPr/>
          <p:nvPr/>
        </p:nvSpPr>
        <p:spPr>
          <a:xfrm>
            <a:off x="322326" y="3915918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4"/>
          <p:cNvSpPr/>
          <p:nvPr/>
        </p:nvSpPr>
        <p:spPr>
          <a:xfrm>
            <a:off x="445770" y="3929634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White House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4"/>
          <p:cNvSpPr/>
          <p:nvPr/>
        </p:nvSpPr>
        <p:spPr>
          <a:xfrm>
            <a:off x="452628" y="4399407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4"/>
          <p:cNvSpPr/>
          <p:nvPr/>
        </p:nvSpPr>
        <p:spPr>
          <a:xfrm>
            <a:off x="946404" y="4392549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$62,580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8" name="Google Shape;1138;p34"/>
          <p:cNvCxnSpPr/>
          <p:nvPr/>
        </p:nvCxnSpPr>
        <p:spPr>
          <a:xfrm>
            <a:off x="182422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34"/>
          <p:cNvCxnSpPr/>
          <p:nvPr/>
        </p:nvCxnSpPr>
        <p:spPr>
          <a:xfrm>
            <a:off x="532180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0" name="Google Shape;1140;p34"/>
          <p:cNvSpPr/>
          <p:nvPr/>
        </p:nvSpPr>
        <p:spPr>
          <a:xfrm>
            <a:off x="196138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$77.68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4"/>
          <p:cNvSpPr/>
          <p:nvPr/>
        </p:nvSpPr>
        <p:spPr>
          <a:xfrm>
            <a:off x="300380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−$2.41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4"/>
          <p:cNvSpPr/>
          <p:nvPr/>
        </p:nvSpPr>
        <p:spPr>
          <a:xfrm>
            <a:off x="4347972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4"/>
          <p:cNvSpPr/>
          <p:nvPr/>
        </p:nvSpPr>
        <p:spPr>
          <a:xfrm>
            <a:off x="4347972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4"/>
          <p:cNvSpPr/>
          <p:nvPr/>
        </p:nvSpPr>
        <p:spPr>
          <a:xfrm>
            <a:off x="197510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$82–87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4"/>
          <p:cNvSpPr/>
          <p:nvPr/>
        </p:nvSpPr>
        <p:spPr>
          <a:xfrm>
            <a:off x="3477006" y="4197096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−$4.32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4"/>
          <p:cNvSpPr/>
          <p:nvPr/>
        </p:nvSpPr>
        <p:spPr>
          <a:xfrm>
            <a:off x="197510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$83.55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4"/>
          <p:cNvSpPr/>
          <p:nvPr/>
        </p:nvSpPr>
        <p:spPr>
          <a:xfrm>
            <a:off x="299694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$80.09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4"/>
          <p:cNvSpPr/>
          <p:nvPr/>
        </p:nvSpPr>
        <p:spPr>
          <a:xfrm>
            <a:off x="4025646" y="4474845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$77.68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4"/>
          <p:cNvSpPr/>
          <p:nvPr/>
        </p:nvSpPr>
        <p:spPr>
          <a:xfrm>
            <a:off x="545896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4.65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4"/>
          <p:cNvSpPr/>
          <p:nvPr/>
        </p:nvSpPr>
        <p:spPr>
          <a:xfrm>
            <a:off x="650138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−0.10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4"/>
          <p:cNvSpPr/>
          <p:nvPr/>
        </p:nvSpPr>
        <p:spPr>
          <a:xfrm>
            <a:off x="7838694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4"/>
          <p:cNvSpPr/>
          <p:nvPr/>
        </p:nvSpPr>
        <p:spPr>
          <a:xfrm>
            <a:off x="7838694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4"/>
          <p:cNvSpPr/>
          <p:nvPr/>
        </p:nvSpPr>
        <p:spPr>
          <a:xfrm>
            <a:off x="547268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5.25+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4"/>
          <p:cNvSpPr/>
          <p:nvPr/>
        </p:nvSpPr>
        <p:spPr>
          <a:xfrm>
            <a:off x="6974586" y="4197096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−0.60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4"/>
          <p:cNvSpPr/>
          <p:nvPr/>
        </p:nvSpPr>
        <p:spPr>
          <a:xfrm>
            <a:off x="547268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4.80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4"/>
          <p:cNvSpPr/>
          <p:nvPr/>
        </p:nvSpPr>
        <p:spPr>
          <a:xfrm>
            <a:off x="649452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4.75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4"/>
          <p:cNvSpPr/>
          <p:nvPr/>
        </p:nvSpPr>
        <p:spPr>
          <a:xfrm>
            <a:off x="7523226" y="4474845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4.65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4"/>
          <p:cNvSpPr/>
          <p:nvPr/>
        </p:nvSpPr>
        <p:spPr>
          <a:xfrm>
            <a:off x="349758" y="4828032"/>
            <a:ext cx="8983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233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E233A"/>
                </a:solidFill>
                <a:latin typeface="Arial"/>
                <a:ea typeface="Arial"/>
                <a:cs typeface="Arial"/>
                <a:sym typeface="Arial"/>
              </a:rPr>
              <a:t>DISTRICT TAKEAWAY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4"/>
          <p:cNvSpPr/>
          <p:nvPr/>
        </p:nvSpPr>
        <p:spPr>
          <a:xfrm>
            <a:off x="1261872" y="4828032"/>
            <a:ext cx="7509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Portland had the sharpest week-over-week decline in both metrics; all three stores remain below both goals.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4"/>
          <p:cNvSpPr/>
          <p:nvPr/>
        </p:nvSpPr>
        <p:spPr>
          <a:xfrm>
            <a:off x="8531352" y="5006340"/>
            <a:ext cx="274320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1 /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5"/>
          <p:cNvSpPr/>
          <p:nvPr/>
        </p:nvSpPr>
        <p:spPr>
          <a:xfrm>
            <a:off x="0" y="0"/>
            <a:ext cx="9144000" cy="768096"/>
          </a:xfrm>
          <a:prstGeom prst="rect">
            <a:avLst/>
          </a:prstGeom>
          <a:solidFill>
            <a:srgbClr val="131B28"/>
          </a:solidFill>
          <a:ln cap="flat" cmpd="sng" w="12700">
            <a:solidFill>
              <a:srgbClr val="13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5"/>
          <p:cNvSpPr/>
          <p:nvPr/>
        </p:nvSpPr>
        <p:spPr>
          <a:xfrm>
            <a:off x="322326" y="192024"/>
            <a:ext cx="37719" cy="356616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5"/>
          <p:cNvSpPr/>
          <p:nvPr/>
        </p:nvSpPr>
        <p:spPr>
          <a:xfrm>
            <a:off x="459486" y="123444"/>
            <a:ext cx="5074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C0C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C0CF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5"/>
          <p:cNvSpPr/>
          <p:nvPr/>
        </p:nvSpPr>
        <p:spPr>
          <a:xfrm>
            <a:off x="445770" y="294894"/>
            <a:ext cx="2674620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TOMMY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5"/>
          <p:cNvSpPr/>
          <p:nvPr/>
        </p:nvSpPr>
        <p:spPr>
          <a:xfrm>
            <a:off x="2866644" y="397764"/>
            <a:ext cx="32232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D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0CAD7"/>
                </a:solidFill>
                <a:latin typeface="Arial"/>
                <a:ea typeface="Arial"/>
                <a:cs typeface="Arial"/>
                <a:sym typeface="Arial"/>
              </a:rPr>
              <a:t>SOUTH TENNESSEE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5"/>
          <p:cNvSpPr/>
          <p:nvPr/>
        </p:nvSpPr>
        <p:spPr>
          <a:xfrm>
            <a:off x="6926580" y="288036"/>
            <a:ext cx="186537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ENDED OCT 18,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5"/>
          <p:cNvSpPr/>
          <p:nvPr/>
        </p:nvSpPr>
        <p:spPr>
          <a:xfrm>
            <a:off x="0" y="768096"/>
            <a:ext cx="9144000" cy="3840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5"/>
          <p:cNvSpPr/>
          <p:nvPr/>
        </p:nvSpPr>
        <p:spPr>
          <a:xfrm>
            <a:off x="322326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5"/>
          <p:cNvSpPr/>
          <p:nvPr/>
        </p:nvSpPr>
        <p:spPr>
          <a:xfrm>
            <a:off x="438912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438912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5"/>
          <p:cNvSpPr/>
          <p:nvPr/>
        </p:nvSpPr>
        <p:spPr>
          <a:xfrm>
            <a:off x="1309878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5"/>
          <p:cNvSpPr/>
          <p:nvPr/>
        </p:nvSpPr>
        <p:spPr>
          <a:xfrm>
            <a:off x="2475738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5"/>
          <p:cNvSpPr/>
          <p:nvPr/>
        </p:nvSpPr>
        <p:spPr>
          <a:xfrm>
            <a:off x="2592324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5"/>
          <p:cNvSpPr/>
          <p:nvPr/>
        </p:nvSpPr>
        <p:spPr>
          <a:xfrm>
            <a:off x="2592324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5"/>
          <p:cNvSpPr/>
          <p:nvPr/>
        </p:nvSpPr>
        <p:spPr>
          <a:xfrm>
            <a:off x="3463290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5"/>
          <p:cNvSpPr/>
          <p:nvPr/>
        </p:nvSpPr>
        <p:spPr>
          <a:xfrm>
            <a:off x="4629150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5"/>
          <p:cNvSpPr/>
          <p:nvPr/>
        </p:nvSpPr>
        <p:spPr>
          <a:xfrm>
            <a:off x="4745736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5"/>
          <p:cNvSpPr/>
          <p:nvPr/>
        </p:nvSpPr>
        <p:spPr>
          <a:xfrm>
            <a:off x="4745736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5"/>
          <p:cNvSpPr/>
          <p:nvPr/>
        </p:nvSpPr>
        <p:spPr>
          <a:xfrm>
            <a:off x="5616702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5"/>
          <p:cNvSpPr/>
          <p:nvPr/>
        </p:nvSpPr>
        <p:spPr>
          <a:xfrm>
            <a:off x="6782562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5"/>
          <p:cNvSpPr/>
          <p:nvPr/>
        </p:nvSpPr>
        <p:spPr>
          <a:xfrm>
            <a:off x="6899148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5"/>
          <p:cNvSpPr/>
          <p:nvPr/>
        </p:nvSpPr>
        <p:spPr>
          <a:xfrm>
            <a:off x="6899148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5"/>
          <p:cNvSpPr/>
          <p:nvPr/>
        </p:nvSpPr>
        <p:spPr>
          <a:xfrm>
            <a:off x="7770114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5"/>
          <p:cNvSpPr/>
          <p:nvPr/>
        </p:nvSpPr>
        <p:spPr>
          <a:xfrm>
            <a:off x="438912" y="1741932"/>
            <a:ext cx="1453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LOCATION &amp; SALES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5"/>
          <p:cNvSpPr/>
          <p:nvPr/>
        </p:nvSpPr>
        <p:spPr>
          <a:xfrm>
            <a:off x="1947672" y="1741932"/>
            <a:ext cx="32369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 /  SALES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5"/>
          <p:cNvSpPr/>
          <p:nvPr/>
        </p:nvSpPr>
        <p:spPr>
          <a:xfrm>
            <a:off x="5431536" y="1741932"/>
            <a:ext cx="33261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 /  TRANSACTIONS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35"/>
          <p:cNvCxnSpPr/>
          <p:nvPr/>
        </p:nvCxnSpPr>
        <p:spPr>
          <a:xfrm>
            <a:off x="322326" y="1933956"/>
            <a:ext cx="8497062" cy="0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3" name="Google Shape;1193;p35"/>
          <p:cNvSpPr/>
          <p:nvPr/>
        </p:nvSpPr>
        <p:spPr>
          <a:xfrm>
            <a:off x="322326" y="1995678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5"/>
          <p:cNvSpPr/>
          <p:nvPr/>
        </p:nvSpPr>
        <p:spPr>
          <a:xfrm>
            <a:off x="322326" y="2077974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35"/>
          <p:cNvSpPr/>
          <p:nvPr/>
        </p:nvSpPr>
        <p:spPr>
          <a:xfrm>
            <a:off x="445770" y="2091690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Brentwood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5"/>
          <p:cNvSpPr/>
          <p:nvPr/>
        </p:nvSpPr>
        <p:spPr>
          <a:xfrm>
            <a:off x="452628" y="2561463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5"/>
          <p:cNvSpPr/>
          <p:nvPr/>
        </p:nvSpPr>
        <p:spPr>
          <a:xfrm>
            <a:off x="946404" y="2554605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$25,876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8" name="Google Shape;1198;p35"/>
          <p:cNvCxnSpPr/>
          <p:nvPr/>
        </p:nvCxnSpPr>
        <p:spPr>
          <a:xfrm>
            <a:off x="182422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9" name="Google Shape;1199;p35"/>
          <p:cNvCxnSpPr/>
          <p:nvPr/>
        </p:nvCxnSpPr>
        <p:spPr>
          <a:xfrm>
            <a:off x="532180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35"/>
          <p:cNvSpPr/>
          <p:nvPr/>
        </p:nvSpPr>
        <p:spPr>
          <a:xfrm>
            <a:off x="196138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$51.42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5"/>
          <p:cNvSpPr/>
          <p:nvPr/>
        </p:nvSpPr>
        <p:spPr>
          <a:xfrm>
            <a:off x="300380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−$4.67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5"/>
          <p:cNvSpPr/>
          <p:nvPr/>
        </p:nvSpPr>
        <p:spPr>
          <a:xfrm>
            <a:off x="4347972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35"/>
          <p:cNvSpPr/>
          <p:nvPr/>
        </p:nvSpPr>
        <p:spPr>
          <a:xfrm>
            <a:off x="4347972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5"/>
          <p:cNvSpPr/>
          <p:nvPr/>
        </p:nvSpPr>
        <p:spPr>
          <a:xfrm>
            <a:off x="197510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$60+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5"/>
          <p:cNvSpPr/>
          <p:nvPr/>
        </p:nvSpPr>
        <p:spPr>
          <a:xfrm>
            <a:off x="3477006" y="2359152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−$8.58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5"/>
          <p:cNvSpPr/>
          <p:nvPr/>
        </p:nvSpPr>
        <p:spPr>
          <a:xfrm>
            <a:off x="197510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$59.01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5"/>
          <p:cNvSpPr/>
          <p:nvPr/>
        </p:nvSpPr>
        <p:spPr>
          <a:xfrm>
            <a:off x="299694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$56.09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5"/>
          <p:cNvSpPr/>
          <p:nvPr/>
        </p:nvSpPr>
        <p:spPr>
          <a:xfrm>
            <a:off x="4025646" y="2636901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$51.42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5"/>
          <p:cNvSpPr/>
          <p:nvPr/>
        </p:nvSpPr>
        <p:spPr>
          <a:xfrm>
            <a:off x="545896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3.05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5"/>
          <p:cNvSpPr/>
          <p:nvPr/>
        </p:nvSpPr>
        <p:spPr>
          <a:xfrm>
            <a:off x="650138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−0.16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5"/>
          <p:cNvSpPr/>
          <p:nvPr/>
        </p:nvSpPr>
        <p:spPr>
          <a:xfrm>
            <a:off x="7838694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5"/>
          <p:cNvSpPr/>
          <p:nvPr/>
        </p:nvSpPr>
        <p:spPr>
          <a:xfrm>
            <a:off x="7838694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5"/>
          <p:cNvSpPr/>
          <p:nvPr/>
        </p:nvSpPr>
        <p:spPr>
          <a:xfrm>
            <a:off x="547268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4.00+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5"/>
          <p:cNvSpPr/>
          <p:nvPr/>
        </p:nvSpPr>
        <p:spPr>
          <a:xfrm>
            <a:off x="6974586" y="2359152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−0.95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5"/>
          <p:cNvSpPr/>
          <p:nvPr/>
        </p:nvSpPr>
        <p:spPr>
          <a:xfrm>
            <a:off x="547268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3.46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5"/>
          <p:cNvSpPr/>
          <p:nvPr/>
        </p:nvSpPr>
        <p:spPr>
          <a:xfrm>
            <a:off x="649452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3.21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35"/>
          <p:cNvSpPr/>
          <p:nvPr/>
        </p:nvSpPr>
        <p:spPr>
          <a:xfrm>
            <a:off x="7523226" y="2636901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3.05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35"/>
          <p:cNvSpPr/>
          <p:nvPr/>
        </p:nvSpPr>
        <p:spPr>
          <a:xfrm>
            <a:off x="322326" y="2914650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35"/>
          <p:cNvSpPr/>
          <p:nvPr/>
        </p:nvSpPr>
        <p:spPr>
          <a:xfrm>
            <a:off x="322326" y="2996946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5"/>
          <p:cNvSpPr/>
          <p:nvPr/>
        </p:nvSpPr>
        <p:spPr>
          <a:xfrm>
            <a:off x="445770" y="3010662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Columbia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5"/>
          <p:cNvSpPr/>
          <p:nvPr/>
        </p:nvSpPr>
        <p:spPr>
          <a:xfrm>
            <a:off x="452628" y="3480435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35"/>
          <p:cNvSpPr/>
          <p:nvPr/>
        </p:nvSpPr>
        <p:spPr>
          <a:xfrm>
            <a:off x="946404" y="3473577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$71,913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3" name="Google Shape;1223;p35"/>
          <p:cNvCxnSpPr/>
          <p:nvPr/>
        </p:nvCxnSpPr>
        <p:spPr>
          <a:xfrm>
            <a:off x="182422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35"/>
          <p:cNvCxnSpPr/>
          <p:nvPr/>
        </p:nvCxnSpPr>
        <p:spPr>
          <a:xfrm>
            <a:off x="532180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5" name="Google Shape;1225;p35"/>
          <p:cNvSpPr/>
          <p:nvPr/>
        </p:nvSpPr>
        <p:spPr>
          <a:xfrm>
            <a:off x="196138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$82.91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5"/>
          <p:cNvSpPr/>
          <p:nvPr/>
        </p:nvSpPr>
        <p:spPr>
          <a:xfrm>
            <a:off x="300380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+$9.29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35"/>
          <p:cNvSpPr/>
          <p:nvPr/>
        </p:nvSpPr>
        <p:spPr>
          <a:xfrm>
            <a:off x="4347972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EAF7F0"/>
          </a:solidFill>
          <a:ln cap="flat" cmpd="sng" w="9525">
            <a:solidFill>
              <a:srgbClr val="EA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5"/>
          <p:cNvSpPr/>
          <p:nvPr/>
        </p:nvSpPr>
        <p:spPr>
          <a:xfrm>
            <a:off x="4347972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ON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5"/>
          <p:cNvSpPr/>
          <p:nvPr/>
        </p:nvSpPr>
        <p:spPr>
          <a:xfrm>
            <a:off x="197510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$82–87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35"/>
          <p:cNvSpPr/>
          <p:nvPr/>
        </p:nvSpPr>
        <p:spPr>
          <a:xfrm>
            <a:off x="3477006" y="3278124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At / above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5"/>
          <p:cNvSpPr/>
          <p:nvPr/>
        </p:nvSpPr>
        <p:spPr>
          <a:xfrm>
            <a:off x="197510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$77.46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35"/>
          <p:cNvSpPr/>
          <p:nvPr/>
        </p:nvSpPr>
        <p:spPr>
          <a:xfrm>
            <a:off x="299694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$73.62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35"/>
          <p:cNvSpPr/>
          <p:nvPr/>
        </p:nvSpPr>
        <p:spPr>
          <a:xfrm>
            <a:off x="4025646" y="3555873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$82.91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5"/>
          <p:cNvSpPr/>
          <p:nvPr/>
        </p:nvSpPr>
        <p:spPr>
          <a:xfrm>
            <a:off x="545896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4.82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35"/>
          <p:cNvSpPr/>
          <p:nvPr/>
        </p:nvSpPr>
        <p:spPr>
          <a:xfrm>
            <a:off x="650138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+0.63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35"/>
          <p:cNvSpPr/>
          <p:nvPr/>
        </p:nvSpPr>
        <p:spPr>
          <a:xfrm>
            <a:off x="7838694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5"/>
          <p:cNvSpPr/>
          <p:nvPr/>
        </p:nvSpPr>
        <p:spPr>
          <a:xfrm>
            <a:off x="7838694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35"/>
          <p:cNvSpPr/>
          <p:nvPr/>
        </p:nvSpPr>
        <p:spPr>
          <a:xfrm>
            <a:off x="547268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5.25+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35"/>
          <p:cNvSpPr/>
          <p:nvPr/>
        </p:nvSpPr>
        <p:spPr>
          <a:xfrm>
            <a:off x="6974586" y="3278124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−0.43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35"/>
          <p:cNvSpPr/>
          <p:nvPr/>
        </p:nvSpPr>
        <p:spPr>
          <a:xfrm>
            <a:off x="547268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4.48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5"/>
          <p:cNvSpPr/>
          <p:nvPr/>
        </p:nvSpPr>
        <p:spPr>
          <a:xfrm>
            <a:off x="649452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4.19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35"/>
          <p:cNvSpPr/>
          <p:nvPr/>
        </p:nvSpPr>
        <p:spPr>
          <a:xfrm>
            <a:off x="7523226" y="3555873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4.82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35"/>
          <p:cNvSpPr/>
          <p:nvPr/>
        </p:nvSpPr>
        <p:spPr>
          <a:xfrm>
            <a:off x="322326" y="3833622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5"/>
          <p:cNvSpPr/>
          <p:nvPr/>
        </p:nvSpPr>
        <p:spPr>
          <a:xfrm>
            <a:off x="322326" y="3915918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5"/>
          <p:cNvSpPr/>
          <p:nvPr/>
        </p:nvSpPr>
        <p:spPr>
          <a:xfrm>
            <a:off x="445770" y="3929634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Spring Hill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35"/>
          <p:cNvSpPr/>
          <p:nvPr/>
        </p:nvSpPr>
        <p:spPr>
          <a:xfrm>
            <a:off x="452628" y="4399407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5"/>
          <p:cNvSpPr/>
          <p:nvPr/>
        </p:nvSpPr>
        <p:spPr>
          <a:xfrm>
            <a:off x="946404" y="4392549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$64,491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8" name="Google Shape;1248;p35"/>
          <p:cNvCxnSpPr/>
          <p:nvPr/>
        </p:nvCxnSpPr>
        <p:spPr>
          <a:xfrm>
            <a:off x="182422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9" name="Google Shape;1249;p35"/>
          <p:cNvCxnSpPr/>
          <p:nvPr/>
        </p:nvCxnSpPr>
        <p:spPr>
          <a:xfrm>
            <a:off x="532180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35"/>
          <p:cNvSpPr/>
          <p:nvPr/>
        </p:nvSpPr>
        <p:spPr>
          <a:xfrm>
            <a:off x="196138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$77.31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35"/>
          <p:cNvSpPr/>
          <p:nvPr/>
        </p:nvSpPr>
        <p:spPr>
          <a:xfrm>
            <a:off x="300380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−$1.28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35"/>
          <p:cNvSpPr/>
          <p:nvPr/>
        </p:nvSpPr>
        <p:spPr>
          <a:xfrm>
            <a:off x="4347972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5"/>
          <p:cNvSpPr/>
          <p:nvPr/>
        </p:nvSpPr>
        <p:spPr>
          <a:xfrm>
            <a:off x="4347972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35"/>
          <p:cNvSpPr/>
          <p:nvPr/>
        </p:nvSpPr>
        <p:spPr>
          <a:xfrm>
            <a:off x="197510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$82–87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35"/>
          <p:cNvSpPr/>
          <p:nvPr/>
        </p:nvSpPr>
        <p:spPr>
          <a:xfrm>
            <a:off x="3477006" y="4197096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−$4.69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35"/>
          <p:cNvSpPr/>
          <p:nvPr/>
        </p:nvSpPr>
        <p:spPr>
          <a:xfrm>
            <a:off x="197510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$77.62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5"/>
          <p:cNvSpPr/>
          <p:nvPr/>
        </p:nvSpPr>
        <p:spPr>
          <a:xfrm>
            <a:off x="299694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$78.59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35"/>
          <p:cNvSpPr/>
          <p:nvPr/>
        </p:nvSpPr>
        <p:spPr>
          <a:xfrm>
            <a:off x="4025646" y="4474845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$77.31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35"/>
          <p:cNvSpPr/>
          <p:nvPr/>
        </p:nvSpPr>
        <p:spPr>
          <a:xfrm>
            <a:off x="545896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4.44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35"/>
          <p:cNvSpPr/>
          <p:nvPr/>
        </p:nvSpPr>
        <p:spPr>
          <a:xfrm>
            <a:off x="650138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−0.12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35"/>
          <p:cNvSpPr/>
          <p:nvPr/>
        </p:nvSpPr>
        <p:spPr>
          <a:xfrm>
            <a:off x="7838694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35"/>
          <p:cNvSpPr/>
          <p:nvPr/>
        </p:nvSpPr>
        <p:spPr>
          <a:xfrm>
            <a:off x="7838694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35"/>
          <p:cNvSpPr/>
          <p:nvPr/>
        </p:nvSpPr>
        <p:spPr>
          <a:xfrm>
            <a:off x="547268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5.25+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5"/>
          <p:cNvSpPr/>
          <p:nvPr/>
        </p:nvSpPr>
        <p:spPr>
          <a:xfrm>
            <a:off x="6974586" y="4197096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−0.81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5"/>
          <p:cNvSpPr/>
          <p:nvPr/>
        </p:nvSpPr>
        <p:spPr>
          <a:xfrm>
            <a:off x="547268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4.53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5"/>
          <p:cNvSpPr/>
          <p:nvPr/>
        </p:nvSpPr>
        <p:spPr>
          <a:xfrm>
            <a:off x="649452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4.56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5"/>
          <p:cNvSpPr/>
          <p:nvPr/>
        </p:nvSpPr>
        <p:spPr>
          <a:xfrm>
            <a:off x="7523226" y="4474845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4.44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35"/>
          <p:cNvSpPr/>
          <p:nvPr/>
        </p:nvSpPr>
        <p:spPr>
          <a:xfrm>
            <a:off x="349758" y="4828032"/>
            <a:ext cx="8983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233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E233A"/>
                </a:solidFill>
                <a:latin typeface="Arial"/>
                <a:ea typeface="Arial"/>
                <a:cs typeface="Arial"/>
                <a:sym typeface="Arial"/>
              </a:rPr>
              <a:t>DISTRICT TAKEAWAY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5"/>
          <p:cNvSpPr/>
          <p:nvPr/>
        </p:nvSpPr>
        <p:spPr>
          <a:xfrm>
            <a:off x="1261872" y="4828032"/>
            <a:ext cx="7509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Columbia is the only location meeting its productivity target. All three stores remain below TPLH standards.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35"/>
          <p:cNvSpPr/>
          <p:nvPr/>
        </p:nvSpPr>
        <p:spPr>
          <a:xfrm>
            <a:off x="8531352" y="5006340"/>
            <a:ext cx="274320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6"/>
          <p:cNvSpPr/>
          <p:nvPr/>
        </p:nvSpPr>
        <p:spPr>
          <a:xfrm>
            <a:off x="0" y="0"/>
            <a:ext cx="9144000" cy="768096"/>
          </a:xfrm>
          <a:prstGeom prst="rect">
            <a:avLst/>
          </a:prstGeom>
          <a:solidFill>
            <a:srgbClr val="131B28"/>
          </a:solidFill>
          <a:ln cap="flat" cmpd="sng" w="12700">
            <a:solidFill>
              <a:srgbClr val="13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6"/>
          <p:cNvSpPr/>
          <p:nvPr/>
        </p:nvSpPr>
        <p:spPr>
          <a:xfrm>
            <a:off x="322326" y="192024"/>
            <a:ext cx="37719" cy="356616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6"/>
          <p:cNvSpPr/>
          <p:nvPr/>
        </p:nvSpPr>
        <p:spPr>
          <a:xfrm>
            <a:off x="459486" y="123444"/>
            <a:ext cx="5074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C0C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C0CF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36"/>
          <p:cNvSpPr/>
          <p:nvPr/>
        </p:nvSpPr>
        <p:spPr>
          <a:xfrm>
            <a:off x="445770" y="294894"/>
            <a:ext cx="2674620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6"/>
          <p:cNvSpPr/>
          <p:nvPr/>
        </p:nvSpPr>
        <p:spPr>
          <a:xfrm>
            <a:off x="2866644" y="397764"/>
            <a:ext cx="32232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D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0CAD7"/>
                </a:solidFill>
                <a:latin typeface="Arial"/>
                <a:ea typeface="Arial"/>
                <a:cs typeface="Arial"/>
                <a:sym typeface="Arial"/>
              </a:rPr>
              <a:t>VIRGINIA • HAMPTON / NEWPORT NEWS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6"/>
          <p:cNvSpPr/>
          <p:nvPr/>
        </p:nvSpPr>
        <p:spPr>
          <a:xfrm>
            <a:off x="6926580" y="288036"/>
            <a:ext cx="186537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ENDED OCT 18,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36"/>
          <p:cNvSpPr/>
          <p:nvPr/>
        </p:nvSpPr>
        <p:spPr>
          <a:xfrm>
            <a:off x="0" y="768096"/>
            <a:ext cx="9144000" cy="3840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6"/>
          <p:cNvSpPr/>
          <p:nvPr/>
        </p:nvSpPr>
        <p:spPr>
          <a:xfrm>
            <a:off x="322326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6"/>
          <p:cNvSpPr/>
          <p:nvPr/>
        </p:nvSpPr>
        <p:spPr>
          <a:xfrm>
            <a:off x="438912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6"/>
          <p:cNvSpPr/>
          <p:nvPr/>
        </p:nvSpPr>
        <p:spPr>
          <a:xfrm>
            <a:off x="438912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6"/>
          <p:cNvSpPr/>
          <p:nvPr/>
        </p:nvSpPr>
        <p:spPr>
          <a:xfrm>
            <a:off x="1309878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6"/>
          <p:cNvSpPr/>
          <p:nvPr/>
        </p:nvSpPr>
        <p:spPr>
          <a:xfrm>
            <a:off x="2475738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6"/>
          <p:cNvSpPr/>
          <p:nvPr/>
        </p:nvSpPr>
        <p:spPr>
          <a:xfrm>
            <a:off x="2592324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6"/>
          <p:cNvSpPr/>
          <p:nvPr/>
        </p:nvSpPr>
        <p:spPr>
          <a:xfrm>
            <a:off x="2592324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6"/>
          <p:cNvSpPr/>
          <p:nvPr/>
        </p:nvSpPr>
        <p:spPr>
          <a:xfrm>
            <a:off x="3463290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6"/>
          <p:cNvSpPr/>
          <p:nvPr/>
        </p:nvSpPr>
        <p:spPr>
          <a:xfrm>
            <a:off x="4629150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6"/>
          <p:cNvSpPr/>
          <p:nvPr/>
        </p:nvSpPr>
        <p:spPr>
          <a:xfrm>
            <a:off x="4745736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6"/>
          <p:cNvSpPr/>
          <p:nvPr/>
        </p:nvSpPr>
        <p:spPr>
          <a:xfrm>
            <a:off x="4745736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6"/>
          <p:cNvSpPr/>
          <p:nvPr/>
        </p:nvSpPr>
        <p:spPr>
          <a:xfrm>
            <a:off x="5616702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6"/>
          <p:cNvSpPr/>
          <p:nvPr/>
        </p:nvSpPr>
        <p:spPr>
          <a:xfrm>
            <a:off x="6782562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6"/>
          <p:cNvSpPr/>
          <p:nvPr/>
        </p:nvSpPr>
        <p:spPr>
          <a:xfrm>
            <a:off x="6899148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6"/>
          <p:cNvSpPr/>
          <p:nvPr/>
        </p:nvSpPr>
        <p:spPr>
          <a:xfrm>
            <a:off x="6899148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6"/>
          <p:cNvSpPr/>
          <p:nvPr/>
        </p:nvSpPr>
        <p:spPr>
          <a:xfrm>
            <a:off x="7770114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6"/>
          <p:cNvSpPr/>
          <p:nvPr/>
        </p:nvSpPr>
        <p:spPr>
          <a:xfrm>
            <a:off x="438912" y="1741932"/>
            <a:ext cx="1453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LOCATION &amp; SALES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6"/>
          <p:cNvSpPr/>
          <p:nvPr/>
        </p:nvSpPr>
        <p:spPr>
          <a:xfrm>
            <a:off x="1947672" y="1741932"/>
            <a:ext cx="32369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 /  SALES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6"/>
          <p:cNvSpPr/>
          <p:nvPr/>
        </p:nvSpPr>
        <p:spPr>
          <a:xfrm>
            <a:off x="5431536" y="1741932"/>
            <a:ext cx="33261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 /  TRANSACTIONS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2" name="Google Shape;1302;p36"/>
          <p:cNvCxnSpPr/>
          <p:nvPr/>
        </p:nvCxnSpPr>
        <p:spPr>
          <a:xfrm>
            <a:off x="322326" y="1933956"/>
            <a:ext cx="8497062" cy="0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36"/>
          <p:cNvSpPr/>
          <p:nvPr/>
        </p:nvSpPr>
        <p:spPr>
          <a:xfrm>
            <a:off x="322326" y="1995678"/>
            <a:ext cx="8497062" cy="641223"/>
          </a:xfrm>
          <a:prstGeom prst="roundRect">
            <a:avLst>
              <a:gd fmla="val 13904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6"/>
          <p:cNvSpPr/>
          <p:nvPr/>
        </p:nvSpPr>
        <p:spPr>
          <a:xfrm>
            <a:off x="322326" y="2077974"/>
            <a:ext cx="32233" cy="476631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6"/>
          <p:cNvSpPr/>
          <p:nvPr/>
        </p:nvSpPr>
        <p:spPr>
          <a:xfrm>
            <a:off x="445770" y="2091690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Jefferson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36"/>
          <p:cNvSpPr/>
          <p:nvPr/>
        </p:nvSpPr>
        <p:spPr>
          <a:xfrm>
            <a:off x="452628" y="2369439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36"/>
          <p:cNvSpPr/>
          <p:nvPr/>
        </p:nvSpPr>
        <p:spPr>
          <a:xfrm>
            <a:off x="946404" y="2362581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$36,867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8" name="Google Shape;1308;p36"/>
          <p:cNvCxnSpPr/>
          <p:nvPr/>
        </p:nvCxnSpPr>
        <p:spPr>
          <a:xfrm>
            <a:off x="1824228" y="2091690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9" name="Google Shape;1309;p36"/>
          <p:cNvCxnSpPr/>
          <p:nvPr/>
        </p:nvCxnSpPr>
        <p:spPr>
          <a:xfrm>
            <a:off x="5321808" y="2091690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0" name="Google Shape;1310;p36"/>
          <p:cNvSpPr/>
          <p:nvPr/>
        </p:nvSpPr>
        <p:spPr>
          <a:xfrm>
            <a:off x="196138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$69.81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36"/>
          <p:cNvSpPr/>
          <p:nvPr/>
        </p:nvSpPr>
        <p:spPr>
          <a:xfrm>
            <a:off x="300380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+$3.38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36"/>
          <p:cNvSpPr/>
          <p:nvPr/>
        </p:nvSpPr>
        <p:spPr>
          <a:xfrm>
            <a:off x="4347972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6"/>
          <p:cNvSpPr/>
          <p:nvPr/>
        </p:nvSpPr>
        <p:spPr>
          <a:xfrm>
            <a:off x="4347972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36"/>
          <p:cNvSpPr/>
          <p:nvPr/>
        </p:nvSpPr>
        <p:spPr>
          <a:xfrm>
            <a:off x="1975104" y="232486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$70–80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36"/>
          <p:cNvSpPr/>
          <p:nvPr/>
        </p:nvSpPr>
        <p:spPr>
          <a:xfrm>
            <a:off x="3477006" y="2324862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−$0.19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36"/>
          <p:cNvSpPr/>
          <p:nvPr/>
        </p:nvSpPr>
        <p:spPr>
          <a:xfrm>
            <a:off x="1975104" y="2444877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$65.20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6"/>
          <p:cNvSpPr/>
          <p:nvPr/>
        </p:nvSpPr>
        <p:spPr>
          <a:xfrm>
            <a:off x="2996946" y="2444877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$66.43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6"/>
          <p:cNvSpPr/>
          <p:nvPr/>
        </p:nvSpPr>
        <p:spPr>
          <a:xfrm>
            <a:off x="4025646" y="2444877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$69.81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36"/>
          <p:cNvSpPr/>
          <p:nvPr/>
        </p:nvSpPr>
        <p:spPr>
          <a:xfrm>
            <a:off x="545896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3.89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6"/>
          <p:cNvSpPr/>
          <p:nvPr/>
        </p:nvSpPr>
        <p:spPr>
          <a:xfrm>
            <a:off x="650138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+0.10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36"/>
          <p:cNvSpPr/>
          <p:nvPr/>
        </p:nvSpPr>
        <p:spPr>
          <a:xfrm>
            <a:off x="7838694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6"/>
          <p:cNvSpPr/>
          <p:nvPr/>
        </p:nvSpPr>
        <p:spPr>
          <a:xfrm>
            <a:off x="7838694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36"/>
          <p:cNvSpPr/>
          <p:nvPr/>
        </p:nvSpPr>
        <p:spPr>
          <a:xfrm>
            <a:off x="5472684" y="232486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36"/>
          <p:cNvSpPr/>
          <p:nvPr/>
        </p:nvSpPr>
        <p:spPr>
          <a:xfrm>
            <a:off x="6974586" y="2324862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−0.11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6"/>
          <p:cNvSpPr/>
          <p:nvPr/>
        </p:nvSpPr>
        <p:spPr>
          <a:xfrm>
            <a:off x="5472684" y="2444877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3.72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36"/>
          <p:cNvSpPr/>
          <p:nvPr/>
        </p:nvSpPr>
        <p:spPr>
          <a:xfrm>
            <a:off x="6494526" y="2444877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3.79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36"/>
          <p:cNvSpPr/>
          <p:nvPr/>
        </p:nvSpPr>
        <p:spPr>
          <a:xfrm>
            <a:off x="7523226" y="2444877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3.89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36"/>
          <p:cNvSpPr/>
          <p:nvPr/>
        </p:nvSpPr>
        <p:spPr>
          <a:xfrm>
            <a:off x="322326" y="2688336"/>
            <a:ext cx="8497062" cy="641223"/>
          </a:xfrm>
          <a:prstGeom prst="roundRect">
            <a:avLst>
              <a:gd fmla="val 13904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6"/>
          <p:cNvSpPr/>
          <p:nvPr/>
        </p:nvSpPr>
        <p:spPr>
          <a:xfrm>
            <a:off x="322326" y="2770632"/>
            <a:ext cx="32233" cy="476631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6"/>
          <p:cNvSpPr/>
          <p:nvPr/>
        </p:nvSpPr>
        <p:spPr>
          <a:xfrm>
            <a:off x="445770" y="2784348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Oyster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6"/>
          <p:cNvSpPr/>
          <p:nvPr/>
        </p:nvSpPr>
        <p:spPr>
          <a:xfrm>
            <a:off x="452628" y="3062097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36"/>
          <p:cNvSpPr/>
          <p:nvPr/>
        </p:nvSpPr>
        <p:spPr>
          <a:xfrm>
            <a:off x="946404" y="3055239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$38,609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3" name="Google Shape;1333;p36"/>
          <p:cNvCxnSpPr/>
          <p:nvPr/>
        </p:nvCxnSpPr>
        <p:spPr>
          <a:xfrm>
            <a:off x="1824228" y="2784348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4" name="Google Shape;1334;p36"/>
          <p:cNvCxnSpPr/>
          <p:nvPr/>
        </p:nvCxnSpPr>
        <p:spPr>
          <a:xfrm>
            <a:off x="5321808" y="2784348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5" name="Google Shape;1335;p36"/>
          <p:cNvSpPr/>
          <p:nvPr/>
        </p:nvSpPr>
        <p:spPr>
          <a:xfrm>
            <a:off x="1961388" y="2736342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$62.14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36"/>
          <p:cNvSpPr/>
          <p:nvPr/>
        </p:nvSpPr>
        <p:spPr>
          <a:xfrm>
            <a:off x="3003804" y="2808351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+$9.04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36"/>
          <p:cNvSpPr/>
          <p:nvPr/>
        </p:nvSpPr>
        <p:spPr>
          <a:xfrm>
            <a:off x="4347972" y="2784348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6"/>
          <p:cNvSpPr/>
          <p:nvPr/>
        </p:nvSpPr>
        <p:spPr>
          <a:xfrm>
            <a:off x="4347972" y="2801493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36"/>
          <p:cNvSpPr/>
          <p:nvPr/>
        </p:nvSpPr>
        <p:spPr>
          <a:xfrm>
            <a:off x="1975104" y="3017520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$70–80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36"/>
          <p:cNvSpPr/>
          <p:nvPr/>
        </p:nvSpPr>
        <p:spPr>
          <a:xfrm>
            <a:off x="3477006" y="3017520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−$7.86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36"/>
          <p:cNvSpPr/>
          <p:nvPr/>
        </p:nvSpPr>
        <p:spPr>
          <a:xfrm>
            <a:off x="1975104" y="313753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$51.92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36"/>
          <p:cNvSpPr/>
          <p:nvPr/>
        </p:nvSpPr>
        <p:spPr>
          <a:xfrm>
            <a:off x="2996946" y="313753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$53.10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6"/>
          <p:cNvSpPr/>
          <p:nvPr/>
        </p:nvSpPr>
        <p:spPr>
          <a:xfrm>
            <a:off x="4025646" y="3137535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$62.14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36"/>
          <p:cNvSpPr/>
          <p:nvPr/>
        </p:nvSpPr>
        <p:spPr>
          <a:xfrm>
            <a:off x="5458968" y="2736342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3.48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36"/>
          <p:cNvSpPr/>
          <p:nvPr/>
        </p:nvSpPr>
        <p:spPr>
          <a:xfrm>
            <a:off x="6501384" y="2808351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+0.47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36"/>
          <p:cNvSpPr/>
          <p:nvPr/>
        </p:nvSpPr>
        <p:spPr>
          <a:xfrm>
            <a:off x="7838694" y="2784348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6"/>
          <p:cNvSpPr/>
          <p:nvPr/>
        </p:nvSpPr>
        <p:spPr>
          <a:xfrm>
            <a:off x="7838694" y="2801493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36"/>
          <p:cNvSpPr/>
          <p:nvPr/>
        </p:nvSpPr>
        <p:spPr>
          <a:xfrm>
            <a:off x="5472684" y="3017520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36"/>
          <p:cNvSpPr/>
          <p:nvPr/>
        </p:nvSpPr>
        <p:spPr>
          <a:xfrm>
            <a:off x="6974586" y="3017520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−0.52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36"/>
          <p:cNvSpPr/>
          <p:nvPr/>
        </p:nvSpPr>
        <p:spPr>
          <a:xfrm>
            <a:off x="5472684" y="313753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2.92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36"/>
          <p:cNvSpPr/>
          <p:nvPr/>
        </p:nvSpPr>
        <p:spPr>
          <a:xfrm>
            <a:off x="6494526" y="313753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3.01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36"/>
          <p:cNvSpPr/>
          <p:nvPr/>
        </p:nvSpPr>
        <p:spPr>
          <a:xfrm>
            <a:off x="7523226" y="3137535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3.48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36"/>
          <p:cNvSpPr/>
          <p:nvPr/>
        </p:nvSpPr>
        <p:spPr>
          <a:xfrm>
            <a:off x="322326" y="3380994"/>
            <a:ext cx="8497062" cy="641223"/>
          </a:xfrm>
          <a:prstGeom prst="roundRect">
            <a:avLst>
              <a:gd fmla="val 13904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6"/>
          <p:cNvSpPr/>
          <p:nvPr/>
        </p:nvSpPr>
        <p:spPr>
          <a:xfrm>
            <a:off x="322326" y="3463290"/>
            <a:ext cx="32233" cy="476631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6"/>
          <p:cNvSpPr/>
          <p:nvPr/>
        </p:nvSpPr>
        <p:spPr>
          <a:xfrm>
            <a:off x="445770" y="3477006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Hampton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36"/>
          <p:cNvSpPr/>
          <p:nvPr/>
        </p:nvSpPr>
        <p:spPr>
          <a:xfrm>
            <a:off x="452628" y="3754755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36"/>
          <p:cNvSpPr/>
          <p:nvPr/>
        </p:nvSpPr>
        <p:spPr>
          <a:xfrm>
            <a:off x="946404" y="3747897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$79,121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8" name="Google Shape;1358;p36"/>
          <p:cNvCxnSpPr/>
          <p:nvPr/>
        </p:nvCxnSpPr>
        <p:spPr>
          <a:xfrm>
            <a:off x="1824228" y="3477006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9" name="Google Shape;1359;p36"/>
          <p:cNvCxnSpPr/>
          <p:nvPr/>
        </p:nvCxnSpPr>
        <p:spPr>
          <a:xfrm>
            <a:off x="5321808" y="3477006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0" name="Google Shape;1360;p36"/>
          <p:cNvSpPr/>
          <p:nvPr/>
        </p:nvSpPr>
        <p:spPr>
          <a:xfrm>
            <a:off x="1961388" y="3429000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$77.79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6"/>
          <p:cNvSpPr/>
          <p:nvPr/>
        </p:nvSpPr>
        <p:spPr>
          <a:xfrm>
            <a:off x="3003804" y="3501009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+$3.63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6"/>
          <p:cNvSpPr/>
          <p:nvPr/>
        </p:nvSpPr>
        <p:spPr>
          <a:xfrm>
            <a:off x="4347972" y="3477006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EAF7F0"/>
          </a:solidFill>
          <a:ln cap="flat" cmpd="sng" w="9525">
            <a:solidFill>
              <a:srgbClr val="EA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6"/>
          <p:cNvSpPr/>
          <p:nvPr/>
        </p:nvSpPr>
        <p:spPr>
          <a:xfrm>
            <a:off x="4347972" y="3494151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ON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36"/>
          <p:cNvSpPr/>
          <p:nvPr/>
        </p:nvSpPr>
        <p:spPr>
          <a:xfrm>
            <a:off x="1975104" y="3710178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$75–85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36"/>
          <p:cNvSpPr/>
          <p:nvPr/>
        </p:nvSpPr>
        <p:spPr>
          <a:xfrm>
            <a:off x="3477006" y="3710178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At / above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36"/>
          <p:cNvSpPr/>
          <p:nvPr/>
        </p:nvSpPr>
        <p:spPr>
          <a:xfrm>
            <a:off x="1975104" y="383019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$67.79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36"/>
          <p:cNvSpPr/>
          <p:nvPr/>
        </p:nvSpPr>
        <p:spPr>
          <a:xfrm>
            <a:off x="2996946" y="383019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$74.16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36"/>
          <p:cNvSpPr/>
          <p:nvPr/>
        </p:nvSpPr>
        <p:spPr>
          <a:xfrm>
            <a:off x="4025646" y="3830193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$77.79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36"/>
          <p:cNvSpPr/>
          <p:nvPr/>
        </p:nvSpPr>
        <p:spPr>
          <a:xfrm>
            <a:off x="5458968" y="3429000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4.24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36"/>
          <p:cNvSpPr/>
          <p:nvPr/>
        </p:nvSpPr>
        <p:spPr>
          <a:xfrm>
            <a:off x="6501384" y="3501009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+0.13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36"/>
          <p:cNvSpPr/>
          <p:nvPr/>
        </p:nvSpPr>
        <p:spPr>
          <a:xfrm>
            <a:off x="7838694" y="3477006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6"/>
          <p:cNvSpPr/>
          <p:nvPr/>
        </p:nvSpPr>
        <p:spPr>
          <a:xfrm>
            <a:off x="7838694" y="3494151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36"/>
          <p:cNvSpPr/>
          <p:nvPr/>
        </p:nvSpPr>
        <p:spPr>
          <a:xfrm>
            <a:off x="5472684" y="3710178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&gt;4.75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36"/>
          <p:cNvSpPr/>
          <p:nvPr/>
        </p:nvSpPr>
        <p:spPr>
          <a:xfrm>
            <a:off x="6974586" y="3710178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−0.51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36"/>
          <p:cNvSpPr/>
          <p:nvPr/>
        </p:nvSpPr>
        <p:spPr>
          <a:xfrm>
            <a:off x="5472684" y="383019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3.66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36"/>
          <p:cNvSpPr/>
          <p:nvPr/>
        </p:nvSpPr>
        <p:spPr>
          <a:xfrm>
            <a:off x="6494526" y="383019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4.11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36"/>
          <p:cNvSpPr/>
          <p:nvPr/>
        </p:nvSpPr>
        <p:spPr>
          <a:xfrm>
            <a:off x="7523226" y="3830193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4.24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6"/>
          <p:cNvSpPr/>
          <p:nvPr/>
        </p:nvSpPr>
        <p:spPr>
          <a:xfrm>
            <a:off x="322326" y="4073652"/>
            <a:ext cx="8497062" cy="641223"/>
          </a:xfrm>
          <a:prstGeom prst="roundRect">
            <a:avLst>
              <a:gd fmla="val 13904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6"/>
          <p:cNvSpPr/>
          <p:nvPr/>
        </p:nvSpPr>
        <p:spPr>
          <a:xfrm>
            <a:off x="322326" y="4155948"/>
            <a:ext cx="32233" cy="476631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6"/>
          <p:cNvSpPr/>
          <p:nvPr/>
        </p:nvSpPr>
        <p:spPr>
          <a:xfrm>
            <a:off x="445770" y="4169664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College Drive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6"/>
          <p:cNvSpPr/>
          <p:nvPr/>
        </p:nvSpPr>
        <p:spPr>
          <a:xfrm>
            <a:off x="452628" y="4447413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36"/>
          <p:cNvSpPr/>
          <p:nvPr/>
        </p:nvSpPr>
        <p:spPr>
          <a:xfrm>
            <a:off x="946404" y="4440555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$52,532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3" name="Google Shape;1383;p36"/>
          <p:cNvCxnSpPr/>
          <p:nvPr/>
        </p:nvCxnSpPr>
        <p:spPr>
          <a:xfrm>
            <a:off x="1824228" y="4169664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4" name="Google Shape;1384;p36"/>
          <p:cNvCxnSpPr/>
          <p:nvPr/>
        </p:nvCxnSpPr>
        <p:spPr>
          <a:xfrm>
            <a:off x="5321808" y="4169664"/>
            <a:ext cx="0" cy="449199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5" name="Google Shape;1385;p36"/>
          <p:cNvSpPr/>
          <p:nvPr/>
        </p:nvSpPr>
        <p:spPr>
          <a:xfrm>
            <a:off x="1961388" y="412165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$77.48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36"/>
          <p:cNvSpPr/>
          <p:nvPr/>
        </p:nvSpPr>
        <p:spPr>
          <a:xfrm>
            <a:off x="3003804" y="419366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−$0.30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36"/>
          <p:cNvSpPr/>
          <p:nvPr/>
        </p:nvSpPr>
        <p:spPr>
          <a:xfrm>
            <a:off x="4347972" y="416966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EAF7F0"/>
          </a:solidFill>
          <a:ln cap="flat" cmpd="sng" w="9525">
            <a:solidFill>
              <a:srgbClr val="EA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6"/>
          <p:cNvSpPr/>
          <p:nvPr/>
        </p:nvSpPr>
        <p:spPr>
          <a:xfrm>
            <a:off x="4347972" y="418680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ON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36"/>
          <p:cNvSpPr/>
          <p:nvPr/>
        </p:nvSpPr>
        <p:spPr>
          <a:xfrm>
            <a:off x="1975104" y="440283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$75–85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36"/>
          <p:cNvSpPr/>
          <p:nvPr/>
        </p:nvSpPr>
        <p:spPr>
          <a:xfrm>
            <a:off x="3477006" y="4402836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At / above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36"/>
          <p:cNvSpPr/>
          <p:nvPr/>
        </p:nvSpPr>
        <p:spPr>
          <a:xfrm>
            <a:off x="1975104" y="452285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$69.68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36"/>
          <p:cNvSpPr/>
          <p:nvPr/>
        </p:nvSpPr>
        <p:spPr>
          <a:xfrm>
            <a:off x="2996946" y="452285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$77.78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36"/>
          <p:cNvSpPr/>
          <p:nvPr/>
        </p:nvSpPr>
        <p:spPr>
          <a:xfrm>
            <a:off x="4025646" y="4522851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$77.48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36"/>
          <p:cNvSpPr/>
          <p:nvPr/>
        </p:nvSpPr>
        <p:spPr>
          <a:xfrm>
            <a:off x="5458968" y="412165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4.48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36"/>
          <p:cNvSpPr/>
          <p:nvPr/>
        </p:nvSpPr>
        <p:spPr>
          <a:xfrm>
            <a:off x="6501384" y="419366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−0.05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36"/>
          <p:cNvSpPr/>
          <p:nvPr/>
        </p:nvSpPr>
        <p:spPr>
          <a:xfrm>
            <a:off x="7838694" y="416966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6"/>
          <p:cNvSpPr/>
          <p:nvPr/>
        </p:nvSpPr>
        <p:spPr>
          <a:xfrm>
            <a:off x="7838694" y="418680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36"/>
          <p:cNvSpPr/>
          <p:nvPr/>
        </p:nvSpPr>
        <p:spPr>
          <a:xfrm>
            <a:off x="5472684" y="440283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&gt;4.75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36"/>
          <p:cNvSpPr/>
          <p:nvPr/>
        </p:nvSpPr>
        <p:spPr>
          <a:xfrm>
            <a:off x="6974586" y="4402836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−0.27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36"/>
          <p:cNvSpPr/>
          <p:nvPr/>
        </p:nvSpPr>
        <p:spPr>
          <a:xfrm>
            <a:off x="5472684" y="452285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4.00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36"/>
          <p:cNvSpPr/>
          <p:nvPr/>
        </p:nvSpPr>
        <p:spPr>
          <a:xfrm>
            <a:off x="6494526" y="452285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4.53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36"/>
          <p:cNvSpPr/>
          <p:nvPr/>
        </p:nvSpPr>
        <p:spPr>
          <a:xfrm>
            <a:off x="7523226" y="4522851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4.48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36"/>
          <p:cNvSpPr/>
          <p:nvPr/>
        </p:nvSpPr>
        <p:spPr>
          <a:xfrm>
            <a:off x="349758" y="4828032"/>
            <a:ext cx="8983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233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E233A"/>
                </a:solidFill>
                <a:latin typeface="Arial"/>
                <a:ea typeface="Arial"/>
                <a:cs typeface="Arial"/>
                <a:sym typeface="Arial"/>
              </a:rPr>
              <a:t>DISTRICT TAKEAWAY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36"/>
          <p:cNvSpPr/>
          <p:nvPr/>
        </p:nvSpPr>
        <p:spPr>
          <a:xfrm>
            <a:off x="1261872" y="4828032"/>
            <a:ext cx="7509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Hampton and College Drive are within the productivity target band. Oyster posted the largest week-over-week improvement.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36"/>
          <p:cNvSpPr/>
          <p:nvPr/>
        </p:nvSpPr>
        <p:spPr>
          <a:xfrm>
            <a:off x="8531352" y="5006340"/>
            <a:ext cx="274320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37"/>
          <p:cNvSpPr/>
          <p:nvPr/>
        </p:nvSpPr>
        <p:spPr>
          <a:xfrm>
            <a:off x="0" y="0"/>
            <a:ext cx="9144000" cy="768096"/>
          </a:xfrm>
          <a:prstGeom prst="rect">
            <a:avLst/>
          </a:prstGeom>
          <a:solidFill>
            <a:srgbClr val="131B28"/>
          </a:solidFill>
          <a:ln cap="flat" cmpd="sng" w="12700">
            <a:solidFill>
              <a:srgbClr val="131B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37"/>
          <p:cNvSpPr/>
          <p:nvPr/>
        </p:nvSpPr>
        <p:spPr>
          <a:xfrm>
            <a:off x="322326" y="192024"/>
            <a:ext cx="37719" cy="356616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37"/>
          <p:cNvSpPr/>
          <p:nvPr/>
        </p:nvSpPr>
        <p:spPr>
          <a:xfrm>
            <a:off x="459486" y="123444"/>
            <a:ext cx="5074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C0C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5C0CF"/>
                </a:solidFill>
                <a:latin typeface="Arial"/>
                <a:ea typeface="Arial"/>
                <a:cs typeface="Arial"/>
                <a:sym typeface="Arial"/>
              </a:rPr>
              <a:t>HUDSON RESTAURANT GROUP  /  WEEKLY BUSINESS REVIEW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37"/>
          <p:cNvSpPr/>
          <p:nvPr/>
        </p:nvSpPr>
        <p:spPr>
          <a:xfrm>
            <a:off x="445770" y="294894"/>
            <a:ext cx="2674620" cy="363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CHRIS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37"/>
          <p:cNvSpPr/>
          <p:nvPr/>
        </p:nvSpPr>
        <p:spPr>
          <a:xfrm>
            <a:off x="2866644" y="397764"/>
            <a:ext cx="32232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AD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C0CAD7"/>
                </a:solidFill>
                <a:latin typeface="Arial"/>
                <a:ea typeface="Arial"/>
                <a:cs typeface="Arial"/>
                <a:sym typeface="Arial"/>
              </a:rPr>
              <a:t>VIRGINIA • SOUTH SIDE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37"/>
          <p:cNvSpPr/>
          <p:nvPr/>
        </p:nvSpPr>
        <p:spPr>
          <a:xfrm>
            <a:off x="6926580" y="288036"/>
            <a:ext cx="1865376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ENDED OCT 18,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37"/>
          <p:cNvSpPr/>
          <p:nvPr/>
        </p:nvSpPr>
        <p:spPr>
          <a:xfrm>
            <a:off x="0" y="768096"/>
            <a:ext cx="9144000" cy="3840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7"/>
          <p:cNvSpPr/>
          <p:nvPr/>
        </p:nvSpPr>
        <p:spPr>
          <a:xfrm>
            <a:off x="322326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7"/>
          <p:cNvSpPr/>
          <p:nvPr/>
        </p:nvSpPr>
        <p:spPr>
          <a:xfrm>
            <a:off x="438912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37"/>
          <p:cNvSpPr/>
          <p:nvPr/>
        </p:nvSpPr>
        <p:spPr>
          <a:xfrm>
            <a:off x="438912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37"/>
          <p:cNvSpPr/>
          <p:nvPr/>
        </p:nvSpPr>
        <p:spPr>
          <a:xfrm>
            <a:off x="1309878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37"/>
          <p:cNvSpPr/>
          <p:nvPr/>
        </p:nvSpPr>
        <p:spPr>
          <a:xfrm>
            <a:off x="2475738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7"/>
          <p:cNvSpPr/>
          <p:nvPr/>
        </p:nvSpPr>
        <p:spPr>
          <a:xfrm>
            <a:off x="2592324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AT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37"/>
          <p:cNvSpPr/>
          <p:nvPr/>
        </p:nvSpPr>
        <p:spPr>
          <a:xfrm>
            <a:off x="2592324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37"/>
          <p:cNvSpPr/>
          <p:nvPr/>
        </p:nvSpPr>
        <p:spPr>
          <a:xfrm>
            <a:off x="3463290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stores meeting goal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37"/>
          <p:cNvSpPr/>
          <p:nvPr/>
        </p:nvSpPr>
        <p:spPr>
          <a:xfrm>
            <a:off x="4629150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37"/>
          <p:cNvSpPr/>
          <p:nvPr/>
        </p:nvSpPr>
        <p:spPr>
          <a:xfrm>
            <a:off x="4745736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37"/>
          <p:cNvSpPr/>
          <p:nvPr/>
        </p:nvSpPr>
        <p:spPr>
          <a:xfrm>
            <a:off x="4745736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37"/>
          <p:cNvSpPr/>
          <p:nvPr/>
        </p:nvSpPr>
        <p:spPr>
          <a:xfrm>
            <a:off x="5616702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37"/>
          <p:cNvSpPr/>
          <p:nvPr/>
        </p:nvSpPr>
        <p:spPr>
          <a:xfrm>
            <a:off x="6782562" y="918972"/>
            <a:ext cx="2057400" cy="610362"/>
          </a:xfrm>
          <a:prstGeom prst="roundRect">
            <a:avLst>
              <a:gd fmla="val 1573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7"/>
          <p:cNvSpPr/>
          <p:nvPr/>
        </p:nvSpPr>
        <p:spPr>
          <a:xfrm>
            <a:off x="6899148" y="994410"/>
            <a:ext cx="18242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IMPROVED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37"/>
          <p:cNvSpPr/>
          <p:nvPr/>
        </p:nvSpPr>
        <p:spPr>
          <a:xfrm>
            <a:off x="6899148" y="1124712"/>
            <a:ext cx="8915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37"/>
          <p:cNvSpPr/>
          <p:nvPr/>
        </p:nvSpPr>
        <p:spPr>
          <a:xfrm>
            <a:off x="7770114" y="1241298"/>
            <a:ext cx="96697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vs. prior week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37"/>
          <p:cNvSpPr/>
          <p:nvPr/>
        </p:nvSpPr>
        <p:spPr>
          <a:xfrm>
            <a:off x="438912" y="1741932"/>
            <a:ext cx="1453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LOCATION &amp; SALES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37"/>
          <p:cNvSpPr/>
          <p:nvPr/>
        </p:nvSpPr>
        <p:spPr>
          <a:xfrm>
            <a:off x="1947672" y="1741932"/>
            <a:ext cx="32369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PRODUCTIVITY  /  SALES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37"/>
          <p:cNvSpPr/>
          <p:nvPr/>
        </p:nvSpPr>
        <p:spPr>
          <a:xfrm>
            <a:off x="5431536" y="1741932"/>
            <a:ext cx="33261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TPLH  /  TRANSACTIONS PER LABOR HOUR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37"/>
          <p:cNvCxnSpPr/>
          <p:nvPr/>
        </p:nvCxnSpPr>
        <p:spPr>
          <a:xfrm>
            <a:off x="322326" y="1933956"/>
            <a:ext cx="8497062" cy="0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37"/>
          <p:cNvSpPr/>
          <p:nvPr/>
        </p:nvSpPr>
        <p:spPr>
          <a:xfrm>
            <a:off x="322326" y="1995678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7"/>
          <p:cNvSpPr/>
          <p:nvPr/>
        </p:nvSpPr>
        <p:spPr>
          <a:xfrm>
            <a:off x="322326" y="2077974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7"/>
          <p:cNvSpPr/>
          <p:nvPr/>
        </p:nvSpPr>
        <p:spPr>
          <a:xfrm>
            <a:off x="445770" y="2091690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VA Beach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37"/>
          <p:cNvSpPr/>
          <p:nvPr/>
        </p:nvSpPr>
        <p:spPr>
          <a:xfrm>
            <a:off x="452628" y="2561463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37"/>
          <p:cNvSpPr/>
          <p:nvPr/>
        </p:nvSpPr>
        <p:spPr>
          <a:xfrm>
            <a:off x="946404" y="2554605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$33,686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3" name="Google Shape;1443;p37"/>
          <p:cNvCxnSpPr/>
          <p:nvPr/>
        </p:nvCxnSpPr>
        <p:spPr>
          <a:xfrm>
            <a:off x="182422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4" name="Google Shape;1444;p37"/>
          <p:cNvCxnSpPr/>
          <p:nvPr/>
        </p:nvCxnSpPr>
        <p:spPr>
          <a:xfrm>
            <a:off x="5321808" y="2091690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5" name="Google Shape;1445;p37"/>
          <p:cNvSpPr/>
          <p:nvPr/>
        </p:nvSpPr>
        <p:spPr>
          <a:xfrm>
            <a:off x="196138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$59.56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37"/>
          <p:cNvSpPr/>
          <p:nvPr/>
        </p:nvSpPr>
        <p:spPr>
          <a:xfrm>
            <a:off x="300380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−$4.42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37"/>
          <p:cNvSpPr/>
          <p:nvPr/>
        </p:nvSpPr>
        <p:spPr>
          <a:xfrm>
            <a:off x="4347972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7"/>
          <p:cNvSpPr/>
          <p:nvPr/>
        </p:nvSpPr>
        <p:spPr>
          <a:xfrm>
            <a:off x="4347972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37"/>
          <p:cNvSpPr/>
          <p:nvPr/>
        </p:nvSpPr>
        <p:spPr>
          <a:xfrm>
            <a:off x="197510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$70–80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37"/>
          <p:cNvSpPr/>
          <p:nvPr/>
        </p:nvSpPr>
        <p:spPr>
          <a:xfrm>
            <a:off x="3477006" y="2359152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−$10.44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37"/>
          <p:cNvSpPr/>
          <p:nvPr/>
        </p:nvSpPr>
        <p:spPr>
          <a:xfrm>
            <a:off x="197510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$58.75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37"/>
          <p:cNvSpPr/>
          <p:nvPr/>
        </p:nvSpPr>
        <p:spPr>
          <a:xfrm>
            <a:off x="299694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$63.98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37"/>
          <p:cNvSpPr/>
          <p:nvPr/>
        </p:nvSpPr>
        <p:spPr>
          <a:xfrm>
            <a:off x="4025646" y="2636901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$59.56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37"/>
          <p:cNvSpPr/>
          <p:nvPr/>
        </p:nvSpPr>
        <p:spPr>
          <a:xfrm>
            <a:off x="5458968" y="2043684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2.98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37"/>
          <p:cNvSpPr/>
          <p:nvPr/>
        </p:nvSpPr>
        <p:spPr>
          <a:xfrm>
            <a:off x="6501384" y="2115693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−0.16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7"/>
          <p:cNvSpPr/>
          <p:nvPr/>
        </p:nvSpPr>
        <p:spPr>
          <a:xfrm>
            <a:off x="7838694" y="2091690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37"/>
          <p:cNvSpPr/>
          <p:nvPr/>
        </p:nvSpPr>
        <p:spPr>
          <a:xfrm>
            <a:off x="7838694" y="2108835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37"/>
          <p:cNvSpPr/>
          <p:nvPr/>
        </p:nvSpPr>
        <p:spPr>
          <a:xfrm>
            <a:off x="5472684" y="2359152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37"/>
          <p:cNvSpPr/>
          <p:nvPr/>
        </p:nvSpPr>
        <p:spPr>
          <a:xfrm>
            <a:off x="6974586" y="2359152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−1.02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37"/>
          <p:cNvSpPr/>
          <p:nvPr/>
        </p:nvSpPr>
        <p:spPr>
          <a:xfrm>
            <a:off x="5472684" y="2636901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3.06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37"/>
          <p:cNvSpPr/>
          <p:nvPr/>
        </p:nvSpPr>
        <p:spPr>
          <a:xfrm>
            <a:off x="6494526" y="2636901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3.14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37"/>
          <p:cNvSpPr/>
          <p:nvPr/>
        </p:nvSpPr>
        <p:spPr>
          <a:xfrm>
            <a:off x="7523226" y="2636901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2.98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37"/>
          <p:cNvSpPr/>
          <p:nvPr/>
        </p:nvSpPr>
        <p:spPr>
          <a:xfrm>
            <a:off x="322326" y="2914650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7"/>
          <p:cNvSpPr/>
          <p:nvPr/>
        </p:nvSpPr>
        <p:spPr>
          <a:xfrm>
            <a:off x="322326" y="2996946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7"/>
          <p:cNvSpPr/>
          <p:nvPr/>
        </p:nvSpPr>
        <p:spPr>
          <a:xfrm>
            <a:off x="445770" y="3010662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Chesapeake Square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37"/>
          <p:cNvSpPr/>
          <p:nvPr/>
        </p:nvSpPr>
        <p:spPr>
          <a:xfrm>
            <a:off x="452628" y="3480435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37"/>
          <p:cNvSpPr/>
          <p:nvPr/>
        </p:nvSpPr>
        <p:spPr>
          <a:xfrm>
            <a:off x="946404" y="3473577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$54,844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8" name="Google Shape;1468;p37"/>
          <p:cNvCxnSpPr/>
          <p:nvPr/>
        </p:nvCxnSpPr>
        <p:spPr>
          <a:xfrm>
            <a:off x="182422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9" name="Google Shape;1469;p37"/>
          <p:cNvCxnSpPr/>
          <p:nvPr/>
        </p:nvCxnSpPr>
        <p:spPr>
          <a:xfrm>
            <a:off x="5321808" y="3010662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0" name="Google Shape;1470;p37"/>
          <p:cNvSpPr/>
          <p:nvPr/>
        </p:nvSpPr>
        <p:spPr>
          <a:xfrm>
            <a:off x="196138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$69.37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37"/>
          <p:cNvSpPr/>
          <p:nvPr/>
        </p:nvSpPr>
        <p:spPr>
          <a:xfrm>
            <a:off x="300380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−$3.55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37"/>
          <p:cNvSpPr/>
          <p:nvPr/>
        </p:nvSpPr>
        <p:spPr>
          <a:xfrm>
            <a:off x="4347972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7"/>
          <p:cNvSpPr/>
          <p:nvPr/>
        </p:nvSpPr>
        <p:spPr>
          <a:xfrm>
            <a:off x="4347972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37"/>
          <p:cNvSpPr/>
          <p:nvPr/>
        </p:nvSpPr>
        <p:spPr>
          <a:xfrm>
            <a:off x="197510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$75–85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37"/>
          <p:cNvSpPr/>
          <p:nvPr/>
        </p:nvSpPr>
        <p:spPr>
          <a:xfrm>
            <a:off x="3477006" y="3278124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−$5.63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37"/>
          <p:cNvSpPr/>
          <p:nvPr/>
        </p:nvSpPr>
        <p:spPr>
          <a:xfrm>
            <a:off x="197510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$65.08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37"/>
          <p:cNvSpPr/>
          <p:nvPr/>
        </p:nvSpPr>
        <p:spPr>
          <a:xfrm>
            <a:off x="299694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$72.92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37"/>
          <p:cNvSpPr/>
          <p:nvPr/>
        </p:nvSpPr>
        <p:spPr>
          <a:xfrm>
            <a:off x="4025646" y="3555873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$69.37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37"/>
          <p:cNvSpPr/>
          <p:nvPr/>
        </p:nvSpPr>
        <p:spPr>
          <a:xfrm>
            <a:off x="5458968" y="2962656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3.73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37"/>
          <p:cNvSpPr/>
          <p:nvPr/>
        </p:nvSpPr>
        <p:spPr>
          <a:xfrm>
            <a:off x="6501384" y="3034665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−0.27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37"/>
          <p:cNvSpPr/>
          <p:nvPr/>
        </p:nvSpPr>
        <p:spPr>
          <a:xfrm>
            <a:off x="7838694" y="3010662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7"/>
          <p:cNvSpPr/>
          <p:nvPr/>
        </p:nvSpPr>
        <p:spPr>
          <a:xfrm>
            <a:off x="7838694" y="3027807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37"/>
          <p:cNvSpPr/>
          <p:nvPr/>
        </p:nvSpPr>
        <p:spPr>
          <a:xfrm>
            <a:off x="5472684" y="3278124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&gt;4.75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37"/>
          <p:cNvSpPr/>
          <p:nvPr/>
        </p:nvSpPr>
        <p:spPr>
          <a:xfrm>
            <a:off x="6974586" y="3278124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−1.02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37"/>
          <p:cNvSpPr/>
          <p:nvPr/>
        </p:nvSpPr>
        <p:spPr>
          <a:xfrm>
            <a:off x="5472684" y="3555873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3.64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37"/>
          <p:cNvSpPr/>
          <p:nvPr/>
        </p:nvSpPr>
        <p:spPr>
          <a:xfrm>
            <a:off x="6494526" y="3555873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4.00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37"/>
          <p:cNvSpPr/>
          <p:nvPr/>
        </p:nvSpPr>
        <p:spPr>
          <a:xfrm>
            <a:off x="7523226" y="3555873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3.73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37"/>
          <p:cNvSpPr/>
          <p:nvPr/>
        </p:nvSpPr>
        <p:spPr>
          <a:xfrm>
            <a:off x="322326" y="3833622"/>
            <a:ext cx="8497062" cy="833247"/>
          </a:xfrm>
          <a:prstGeom prst="roundRect">
            <a:avLst>
              <a:gd fmla="val 10700" name="adj"/>
            </a:avLst>
          </a:prstGeom>
          <a:solidFill>
            <a:srgbClr val="FFFFFF"/>
          </a:solidFill>
          <a:ln cap="flat" cmpd="sng" w="9525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7"/>
          <p:cNvSpPr/>
          <p:nvPr/>
        </p:nvSpPr>
        <p:spPr>
          <a:xfrm>
            <a:off x="322326" y="3915918"/>
            <a:ext cx="32233" cy="668655"/>
          </a:xfrm>
          <a:prstGeom prst="rect">
            <a:avLst/>
          </a:prstGeom>
          <a:solidFill>
            <a:srgbClr val="BE233A"/>
          </a:solidFill>
          <a:ln cap="flat" cmpd="sng" w="12700">
            <a:solidFill>
              <a:srgbClr val="BE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7"/>
          <p:cNvSpPr/>
          <p:nvPr/>
        </p:nvSpPr>
        <p:spPr>
          <a:xfrm>
            <a:off x="445770" y="3929634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Hillcrest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37"/>
          <p:cNvSpPr/>
          <p:nvPr/>
        </p:nvSpPr>
        <p:spPr>
          <a:xfrm>
            <a:off x="452628" y="4399407"/>
            <a:ext cx="500634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NET SALES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37"/>
          <p:cNvSpPr/>
          <p:nvPr/>
        </p:nvSpPr>
        <p:spPr>
          <a:xfrm>
            <a:off x="946404" y="4392549"/>
            <a:ext cx="8092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$36,800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3" name="Google Shape;1493;p37"/>
          <p:cNvCxnSpPr/>
          <p:nvPr/>
        </p:nvCxnSpPr>
        <p:spPr>
          <a:xfrm>
            <a:off x="182422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4" name="Google Shape;1494;p37"/>
          <p:cNvCxnSpPr/>
          <p:nvPr/>
        </p:nvCxnSpPr>
        <p:spPr>
          <a:xfrm>
            <a:off x="5321808" y="3929634"/>
            <a:ext cx="0" cy="641223"/>
          </a:xfrm>
          <a:prstGeom prst="straightConnector1">
            <a:avLst/>
          </a:prstGeom>
          <a:noFill/>
          <a:ln cap="flat" cmpd="sng" w="10150">
            <a:solidFill>
              <a:srgbClr val="DFE3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5" name="Google Shape;1495;p37"/>
          <p:cNvSpPr/>
          <p:nvPr/>
        </p:nvSpPr>
        <p:spPr>
          <a:xfrm>
            <a:off x="196138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$55.96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37"/>
          <p:cNvSpPr/>
          <p:nvPr/>
        </p:nvSpPr>
        <p:spPr>
          <a:xfrm>
            <a:off x="300380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8152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8152"/>
                </a:solidFill>
                <a:latin typeface="Arial"/>
                <a:ea typeface="Arial"/>
                <a:cs typeface="Arial"/>
                <a:sym typeface="Arial"/>
              </a:rPr>
              <a:t>▲  +$0.61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37"/>
          <p:cNvSpPr/>
          <p:nvPr/>
        </p:nvSpPr>
        <p:spPr>
          <a:xfrm>
            <a:off x="4347972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7"/>
          <p:cNvSpPr/>
          <p:nvPr/>
        </p:nvSpPr>
        <p:spPr>
          <a:xfrm>
            <a:off x="4347972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37"/>
          <p:cNvSpPr/>
          <p:nvPr/>
        </p:nvSpPr>
        <p:spPr>
          <a:xfrm>
            <a:off x="197510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$70–80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37"/>
          <p:cNvSpPr/>
          <p:nvPr/>
        </p:nvSpPr>
        <p:spPr>
          <a:xfrm>
            <a:off x="3477006" y="4197096"/>
            <a:ext cx="1707642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−$14.04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37"/>
          <p:cNvSpPr/>
          <p:nvPr/>
        </p:nvSpPr>
        <p:spPr>
          <a:xfrm>
            <a:off x="197510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$56.10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37"/>
          <p:cNvSpPr/>
          <p:nvPr/>
        </p:nvSpPr>
        <p:spPr>
          <a:xfrm>
            <a:off x="299694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$55.35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37"/>
          <p:cNvSpPr/>
          <p:nvPr/>
        </p:nvSpPr>
        <p:spPr>
          <a:xfrm>
            <a:off x="4025646" y="4474845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$55.96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37"/>
          <p:cNvSpPr/>
          <p:nvPr/>
        </p:nvSpPr>
        <p:spPr>
          <a:xfrm>
            <a:off x="5458968" y="3881628"/>
            <a:ext cx="11452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2.79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37"/>
          <p:cNvSpPr/>
          <p:nvPr/>
        </p:nvSpPr>
        <p:spPr>
          <a:xfrm>
            <a:off x="6501384" y="3953637"/>
            <a:ext cx="104241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▼  −0.15 WoW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37"/>
          <p:cNvSpPr/>
          <p:nvPr/>
        </p:nvSpPr>
        <p:spPr>
          <a:xfrm>
            <a:off x="7838694" y="3929634"/>
            <a:ext cx="836676" cy="205740"/>
          </a:xfrm>
          <a:prstGeom prst="roundRect">
            <a:avLst>
              <a:gd fmla="val 36667" name="adj"/>
            </a:avLst>
          </a:prstGeom>
          <a:solidFill>
            <a:srgbClr val="FFF0EF"/>
          </a:solidFill>
          <a:ln cap="flat" cmpd="sng" w="9525">
            <a:solidFill>
              <a:srgbClr val="FF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7"/>
          <p:cNvSpPr/>
          <p:nvPr/>
        </p:nvSpPr>
        <p:spPr>
          <a:xfrm>
            <a:off x="7838694" y="3946779"/>
            <a:ext cx="83667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BELOW TARGET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7"/>
          <p:cNvSpPr/>
          <p:nvPr/>
        </p:nvSpPr>
        <p:spPr>
          <a:xfrm>
            <a:off x="5472684" y="4197096"/>
            <a:ext cx="1488186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TARGET  &gt;4.00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37"/>
          <p:cNvSpPr/>
          <p:nvPr/>
        </p:nvSpPr>
        <p:spPr>
          <a:xfrm>
            <a:off x="6974586" y="4197096"/>
            <a:ext cx="1700784" cy="130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C3F44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C3F44"/>
                </a:solidFill>
                <a:latin typeface="Arial"/>
                <a:ea typeface="Arial"/>
                <a:cs typeface="Arial"/>
                <a:sym typeface="Arial"/>
              </a:rPr>
              <a:t>−1.21 to floor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37"/>
          <p:cNvSpPr/>
          <p:nvPr/>
        </p:nvSpPr>
        <p:spPr>
          <a:xfrm>
            <a:off x="5472684" y="4474845"/>
            <a:ext cx="94640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SEP 28   2.85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37"/>
          <p:cNvSpPr/>
          <p:nvPr/>
        </p:nvSpPr>
        <p:spPr>
          <a:xfrm>
            <a:off x="6494526" y="4474845"/>
            <a:ext cx="9669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OCT 05   2.94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37"/>
          <p:cNvSpPr/>
          <p:nvPr/>
        </p:nvSpPr>
        <p:spPr>
          <a:xfrm>
            <a:off x="7523226" y="4474845"/>
            <a:ext cx="117271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02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8202B"/>
                </a:solidFill>
                <a:latin typeface="Arial"/>
                <a:ea typeface="Arial"/>
                <a:cs typeface="Arial"/>
                <a:sym typeface="Arial"/>
              </a:rPr>
              <a:t>OCT 12   2.79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37"/>
          <p:cNvSpPr/>
          <p:nvPr/>
        </p:nvSpPr>
        <p:spPr>
          <a:xfrm>
            <a:off x="349758" y="4828032"/>
            <a:ext cx="8983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233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E233A"/>
                </a:solidFill>
                <a:latin typeface="Arial"/>
                <a:ea typeface="Arial"/>
                <a:cs typeface="Arial"/>
                <a:sym typeface="Arial"/>
              </a:rPr>
              <a:t>DISTRICT TAKEAWAY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37"/>
          <p:cNvSpPr/>
          <p:nvPr/>
        </p:nvSpPr>
        <p:spPr>
          <a:xfrm>
            <a:off x="1261872" y="4828032"/>
            <a:ext cx="7509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465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94658"/>
                </a:solidFill>
                <a:latin typeface="Arial"/>
                <a:ea typeface="Arial"/>
                <a:cs typeface="Arial"/>
                <a:sym typeface="Arial"/>
              </a:rPr>
              <a:t>Every location remains below both goals; TPLH declined at all three stores versus the previous week.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37"/>
          <p:cNvSpPr/>
          <p:nvPr/>
        </p:nvSpPr>
        <p:spPr>
          <a:xfrm>
            <a:off x="8531352" y="5006340"/>
            <a:ext cx="274320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57487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657487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438" y="913675"/>
            <a:ext cx="6979133" cy="399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38"/>
          <p:cNvSpPr txBox="1"/>
          <p:nvPr>
            <p:ph type="title"/>
          </p:nvPr>
        </p:nvSpPr>
        <p:spPr>
          <a:xfrm>
            <a:off x="311700" y="28846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Variance</a:t>
            </a:r>
            <a:endParaRPr/>
          </a:p>
        </p:txBody>
      </p:sp>
      <p:sp>
        <p:nvSpPr>
          <p:cNvPr id="1522" name="Google Shape;1522;p38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23" name="Google Shape;1523;p38" title="hrg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38"/>
          <p:cNvSpPr/>
          <p:nvPr/>
        </p:nvSpPr>
        <p:spPr>
          <a:xfrm>
            <a:off x="6443300" y="913675"/>
            <a:ext cx="977100" cy="3995700"/>
          </a:xfrm>
          <a:prstGeom prst="rect">
            <a:avLst/>
          </a:prstGeom>
          <a:noFill/>
          <a:ln cap="flat" cmpd="sng" w="28575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TN COGS</a:t>
            </a:r>
            <a:endParaRPr/>
          </a:p>
        </p:txBody>
      </p:sp>
      <p:sp>
        <p:nvSpPr>
          <p:cNvPr id="1530" name="Google Shape;1530;p39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31" name="Google Shape;1531;p39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075" y="1100497"/>
            <a:ext cx="7927849" cy="172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75" y="3034501"/>
            <a:ext cx="7927849" cy="1721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 COGS</a:t>
            </a:r>
            <a:endParaRPr/>
          </a:p>
        </p:txBody>
      </p:sp>
      <p:sp>
        <p:nvSpPr>
          <p:cNvPr id="1539" name="Google Shape;1539;p40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40" name="Google Shape;1540;p40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075" y="1110174"/>
            <a:ext cx="7927849" cy="1697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75" y="2899703"/>
            <a:ext cx="7927849" cy="1992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41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548" name="Google Shape;154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 Times – Maegan</a:t>
            </a:r>
            <a:endParaRPr/>
          </a:p>
        </p:txBody>
      </p:sp>
      <p:pic>
        <p:nvPicPr>
          <p:cNvPr id="1549" name="Google Shape;1549;p41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125" y="1170125"/>
            <a:ext cx="6421796" cy="17779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41"/>
          <p:cNvSpPr txBox="1"/>
          <p:nvPr/>
        </p:nvSpPr>
        <p:spPr>
          <a:xfrm>
            <a:off x="214100" y="1170125"/>
            <a:ext cx="2124000" cy="177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Last Week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2" name="Google Shape;1552;p41"/>
          <p:cNvSpPr txBox="1"/>
          <p:nvPr/>
        </p:nvSpPr>
        <p:spPr>
          <a:xfrm>
            <a:off x="214100" y="3100325"/>
            <a:ext cx="2124000" cy="177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PTD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53" name="Google Shape;155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2125" y="3100425"/>
            <a:ext cx="6421494" cy="17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 Times – Tommy</a:t>
            </a:r>
            <a:endParaRPr/>
          </a:p>
        </p:txBody>
      </p:sp>
      <p:sp>
        <p:nvSpPr>
          <p:cNvPr id="1559" name="Google Shape;1559;p42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60" name="Google Shape;1560;p42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923" y="3044598"/>
            <a:ext cx="7283343" cy="133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8923" y="1429425"/>
            <a:ext cx="7283374" cy="133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42"/>
          <p:cNvSpPr txBox="1"/>
          <p:nvPr/>
        </p:nvSpPr>
        <p:spPr>
          <a:xfrm>
            <a:off x="214100" y="1429426"/>
            <a:ext cx="1209600" cy="133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2050" lIns="52050" spcFirstLastPara="1" rIns="52050" wrap="square" tIns="5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5">
                <a:solidFill>
                  <a:schemeClr val="dk2"/>
                </a:solidFill>
              </a:rPr>
              <a:t>Last Week</a:t>
            </a:r>
            <a:endParaRPr sz="1025">
              <a:solidFill>
                <a:schemeClr val="dk2"/>
              </a:solidFill>
            </a:endParaRPr>
          </a:p>
        </p:txBody>
      </p:sp>
      <p:sp>
        <p:nvSpPr>
          <p:cNvPr id="1564" name="Google Shape;1564;p42"/>
          <p:cNvSpPr txBox="1"/>
          <p:nvPr/>
        </p:nvSpPr>
        <p:spPr>
          <a:xfrm>
            <a:off x="214100" y="3044604"/>
            <a:ext cx="1209600" cy="133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2050" lIns="52050" spcFirstLastPara="1" rIns="52050" wrap="square" tIns="5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5">
                <a:solidFill>
                  <a:schemeClr val="dk2"/>
                </a:solidFill>
              </a:rPr>
              <a:t>PTD</a:t>
            </a:r>
            <a:endParaRPr sz="102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43"/>
          <p:cNvSpPr txBox="1"/>
          <p:nvPr>
            <p:ph type="title"/>
          </p:nvPr>
        </p:nvSpPr>
        <p:spPr>
          <a:xfrm>
            <a:off x="311700" y="3251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 Times – Star</a:t>
            </a:r>
            <a:endParaRPr/>
          </a:p>
        </p:txBody>
      </p:sp>
      <p:sp>
        <p:nvSpPr>
          <p:cNvPr id="1570" name="Google Shape;1570;p43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71" name="Google Shape;1571;p43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1278" y="815375"/>
            <a:ext cx="5341844" cy="2018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1278" y="2916477"/>
            <a:ext cx="5341844" cy="2018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43"/>
          <p:cNvSpPr txBox="1"/>
          <p:nvPr/>
        </p:nvSpPr>
        <p:spPr>
          <a:xfrm>
            <a:off x="214100" y="897825"/>
            <a:ext cx="1427400" cy="19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1425" lIns="61425" spcFirstLastPara="1" rIns="61425" wrap="square" tIns="6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2"/>
                </a:solidFill>
              </a:rPr>
              <a:t>Last Week</a:t>
            </a:r>
            <a:endParaRPr sz="1210">
              <a:solidFill>
                <a:schemeClr val="dk2"/>
              </a:solidFill>
            </a:endParaRPr>
          </a:p>
        </p:txBody>
      </p:sp>
      <p:sp>
        <p:nvSpPr>
          <p:cNvPr id="1575" name="Google Shape;1575;p43"/>
          <p:cNvSpPr txBox="1"/>
          <p:nvPr/>
        </p:nvSpPr>
        <p:spPr>
          <a:xfrm>
            <a:off x="214100" y="2916472"/>
            <a:ext cx="1427400" cy="20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1425" lIns="61425" spcFirstLastPara="1" rIns="61425" wrap="square" tIns="6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solidFill>
                  <a:schemeClr val="dk2"/>
                </a:solidFill>
              </a:rPr>
              <a:t>PTD</a:t>
            </a:r>
            <a:endParaRPr sz="121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 Times – Chris</a:t>
            </a:r>
            <a:endParaRPr/>
          </a:p>
        </p:txBody>
      </p:sp>
      <p:sp>
        <p:nvSpPr>
          <p:cNvPr id="1581" name="Google Shape;1581;p44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582" name="Google Shape;1582;p44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003" y="3044607"/>
            <a:ext cx="7283287" cy="1337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48925" y="1429425"/>
            <a:ext cx="7283374" cy="1337177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44"/>
          <p:cNvSpPr txBox="1"/>
          <p:nvPr/>
        </p:nvSpPr>
        <p:spPr>
          <a:xfrm>
            <a:off x="214100" y="1429426"/>
            <a:ext cx="1209600" cy="133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2050" lIns="52050" spcFirstLastPara="1" rIns="52050" wrap="square" tIns="5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5">
                <a:solidFill>
                  <a:schemeClr val="dk2"/>
                </a:solidFill>
              </a:rPr>
              <a:t>Last Week</a:t>
            </a:r>
            <a:endParaRPr sz="1025">
              <a:solidFill>
                <a:schemeClr val="dk2"/>
              </a:solidFill>
            </a:endParaRPr>
          </a:p>
        </p:txBody>
      </p:sp>
      <p:sp>
        <p:nvSpPr>
          <p:cNvPr id="1586" name="Google Shape;1586;p44"/>
          <p:cNvSpPr txBox="1"/>
          <p:nvPr/>
        </p:nvSpPr>
        <p:spPr>
          <a:xfrm>
            <a:off x="214100" y="3044604"/>
            <a:ext cx="1209600" cy="133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2050" lIns="52050" spcFirstLastPara="1" rIns="52050" wrap="square" tIns="5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5">
                <a:solidFill>
                  <a:schemeClr val="dk2"/>
                </a:solidFill>
              </a:rPr>
              <a:t>PTD</a:t>
            </a:r>
            <a:endParaRPr sz="102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5"/>
          <p:cNvSpPr txBox="1"/>
          <p:nvPr>
            <p:ph type="title"/>
          </p:nvPr>
        </p:nvSpPr>
        <p:spPr>
          <a:xfrm>
            <a:off x="311700" y="1206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Volume-Based SOS Rankings – PTD</a:t>
            </a:r>
            <a:endParaRPr/>
          </a:p>
        </p:txBody>
      </p:sp>
      <p:pic>
        <p:nvPicPr>
          <p:cNvPr id="1592" name="Google Shape;1592;p45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4413" y="693375"/>
            <a:ext cx="5875174" cy="4148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45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SMG - Maegan</a:t>
            </a:r>
            <a:endParaRPr/>
          </a:p>
        </p:txBody>
      </p:sp>
      <p:sp>
        <p:nvSpPr>
          <p:cNvPr id="1600" name="Google Shape;1600;p46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01" name="Google Shape;1601;p46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88" y="1071490"/>
            <a:ext cx="8426020" cy="1844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" name="Google Shape;160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88" y="3014501"/>
            <a:ext cx="8426020" cy="185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SMG - Tommy</a:t>
            </a:r>
            <a:endParaRPr/>
          </a:p>
        </p:txBody>
      </p:sp>
      <p:sp>
        <p:nvSpPr>
          <p:cNvPr id="1609" name="Google Shape;1609;p47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10" name="Google Shape;1610;p47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1" name="Google Shape;161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875" y="1024263"/>
            <a:ext cx="8842250" cy="195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2" name="Google Shape;161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875" y="2984953"/>
            <a:ext cx="8842250" cy="1945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4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SMG - Star</a:t>
            </a:r>
            <a:endParaRPr/>
          </a:p>
        </p:txBody>
      </p:sp>
      <p:sp>
        <p:nvSpPr>
          <p:cNvPr id="1618" name="Google Shape;1618;p48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19" name="Google Shape;1619;p48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950" y="679000"/>
            <a:ext cx="8342098" cy="2152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950" y="2873536"/>
            <a:ext cx="8342098" cy="2135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SMG - Chris</a:t>
            </a:r>
            <a:endParaRPr/>
          </a:p>
        </p:txBody>
      </p:sp>
      <p:sp>
        <p:nvSpPr>
          <p:cNvPr id="1627" name="Google Shape;1627;p49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28" name="Google Shape;1628;p49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875" y="988850"/>
            <a:ext cx="8842250" cy="195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875" y="2942980"/>
            <a:ext cx="8842250" cy="1962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</a:t>
            </a:r>
            <a:r>
              <a:rPr lang="en"/>
              <a:t>-Out Report - Pay Period to Date</a:t>
            </a:r>
            <a:endParaRPr/>
          </a:p>
        </p:txBody>
      </p:sp>
      <p:sp>
        <p:nvSpPr>
          <p:cNvPr id="1636" name="Google Shape;1636;p50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37" name="Google Shape;1637;p50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" name="Google Shape;16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638" y="1066038"/>
            <a:ext cx="60367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Jolt Completion - Last Week</a:t>
            </a:r>
            <a:endParaRPr/>
          </a:p>
        </p:txBody>
      </p:sp>
      <p:sp>
        <p:nvSpPr>
          <p:cNvPr id="1644" name="Google Shape;1644;p51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45" name="Google Shape;1645;p51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13" y="1170125"/>
            <a:ext cx="8110387" cy="361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ZU Completion - W6</a:t>
            </a:r>
            <a:endParaRPr/>
          </a:p>
        </p:txBody>
      </p:sp>
      <p:sp>
        <p:nvSpPr>
          <p:cNvPr id="1652" name="Google Shape;1652;p52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53" name="Google Shape;1653;p52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000" y="1017725"/>
            <a:ext cx="443599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3"/>
          <p:cNvSpPr txBox="1"/>
          <p:nvPr>
            <p:ph idx="1" type="body"/>
          </p:nvPr>
        </p:nvSpPr>
        <p:spPr>
          <a:xfrm>
            <a:off x="4572000" y="1000075"/>
            <a:ext cx="42603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</a:rPr>
              <a:t>DM Hot Fires</a:t>
            </a:r>
            <a:endParaRPr b="1" sz="1100" u="sng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Audit Timecards 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chemeClr val="dk1"/>
                </a:solidFill>
              </a:rPr>
              <a:t>Write ups - uploading to Workstream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" sz="1100">
                <a:solidFill>
                  <a:schemeClr val="dk1"/>
                </a:solidFill>
              </a:rPr>
              <a:t>Follow through in your districts (It’s great to identify areas of opportunity but what processes will you put in place to ensure they are resolved?)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❏"/>
            </a:pPr>
            <a:r>
              <a:rPr lang="en" sz="1100">
                <a:solidFill>
                  <a:schemeClr val="dk1"/>
                </a:solidFill>
              </a:rPr>
              <a:t>Managing Overtime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00000"/>
                </a:solidFill>
              </a:rPr>
              <a:t>GM Hot Fires</a:t>
            </a:r>
            <a:endParaRPr b="1" sz="1100" u="sng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Audit Timecards 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Catering outreach - TN 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Write ups - uploading to Workstream 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Overtime focus &amp; how it affects business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❏"/>
            </a:pPr>
            <a:r>
              <a:rPr lang="en" sz="1100">
                <a:solidFill>
                  <a:srgbClr val="000000"/>
                </a:solidFill>
              </a:rPr>
              <a:t>No mention of store survey contest permitted when asking the guest to fill out survey → use BOGO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660" name="Google Shape;166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Administrative Notes &amp; Hot Fires</a:t>
            </a:r>
            <a:endParaRPr/>
          </a:p>
        </p:txBody>
      </p:sp>
      <p:sp>
        <p:nvSpPr>
          <p:cNvPr id="1661" name="Google Shape;1661;p53"/>
          <p:cNvSpPr txBox="1"/>
          <p:nvPr/>
        </p:nvSpPr>
        <p:spPr>
          <a:xfrm>
            <a:off x="6806919" y="4935332"/>
            <a:ext cx="2187000" cy="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Figtree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© 202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Hudson Restaurant Group</a:t>
            </a:r>
            <a:r>
              <a:rPr b="0" i="0" lang="en" sz="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|  Proprietary &amp; Confidential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1662" name="Google Shape;1662;p53" title="hrg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53"/>
          <p:cNvSpPr txBox="1"/>
          <p:nvPr>
            <p:ph idx="1" type="body"/>
          </p:nvPr>
        </p:nvSpPr>
        <p:spPr>
          <a:xfrm>
            <a:off x="311700" y="1000075"/>
            <a:ext cx="42603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Steritech:</a:t>
            </a:r>
            <a:endParaRPr b="1" sz="10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New cycle starts, let teams know to be on alert</a:t>
            </a:r>
            <a:r>
              <a:rPr b="1" lang="en" sz="1000">
                <a:solidFill>
                  <a:schemeClr val="dk1"/>
                </a:solidFill>
              </a:rPr>
              <a:t>!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Cleaning Focus:</a:t>
            </a:r>
            <a:r>
              <a:rPr b="1"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TN: Base of Booths in lobby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VA: Organize / clean FOH cabinets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Weather:</a:t>
            </a:r>
            <a:endParaRPr b="1" sz="10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TN: 70s &amp; Sunny all week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VA: Mid 60s &amp; Windy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Promotions:</a:t>
            </a:r>
            <a:endParaRPr b="1" sz="10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Window 6 promo ongoing! Due by Friday 10/23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</a:rPr>
              <a:t>Secret Shops:</a:t>
            </a:r>
            <a:endParaRPr b="1" sz="10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Monthly secret shops are DONE!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54" title="Minimalist Texas Map with Austin and San Anton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91225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54" title="hrg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7249" y="-1357"/>
            <a:ext cx="816750" cy="81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